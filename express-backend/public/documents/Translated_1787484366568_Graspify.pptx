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141A47"/>
          </a:solidFill>
          <a:ln/>
        </p:spPr>
        <p:txBody>
          <a:bodyPr/>
          <a:p/>
        </p:txBody>
      </p:sp>
      <p:sp>
        <p:nvSpPr>
          <p:cNvPr id="3" name="Shape 1"/>
          <p:cNvSpPr/>
          <p:nvPr/>
        </p:nvSpPr>
        <p:spPr>
          <a:xfrm>
            <a:off x="10607040" y="4206240"/>
            <a:ext cx="2743200" cy="2743200"/>
          </a:xfrm>
          <a:prstGeom prst="ellipse">
            <a:avLst/>
          </a:prstGeom>
          <a:solidFill>
            <a:srgbClr val="3E6CB5">
              <a:alpha val="30000"/>
            </a:srgbClr>
          </a:solidFill>
          <a:ln/>
        </p:spPr>
        <p:txBody>
          <a:bodyPr/>
          <a:p/>
        </p:txBody>
      </p:sp>
      <p:sp>
        <p:nvSpPr>
          <p:cNvPr id="4" name="Text 2"/>
          <p:cNvSpPr/>
          <p:nvPr/>
        </p:nvSpPr>
        <p:spPr>
          <a:xfrm>
            <a:off x="731520" y="2148840"/>
            <a:ext cx="9144000" cy="914400"/>
          </a:xfrm>
          <a:prstGeom prst="rect">
            <a:avLst/>
          </a:prstGeom>
          <a:noFill/>
          <a:ln/>
        </p:spPr>
        <p:txBody>
          <a:bodyPr wrap="square" rtlCol="0" anchor="ctr"/>
          <a:lstStyle/>
          <a:p>
            <a:r>
              <a:rPr sz="5400" b="1">
                <a:solidFill>
                  <a:srgbClr val="FFFFFF"/>
                </a:solidFill>
                <a:latin typeface="Cambria"/>
              </a:rPr>
              <a:t>ग्रॅस्पिफाय</a:t>
            </a:r>
          </a:p>
        </p:txBody>
      </p:sp>
      <p:sp>
        <p:nvSpPr>
          <p:cNvPr id="5" name="Text 3"/>
          <p:cNvSpPr/>
          <p:nvPr/>
        </p:nvSpPr>
        <p:spPr>
          <a:xfrm>
            <a:off x="777240" y="3063240"/>
            <a:ext cx="8686800" cy="548640"/>
          </a:xfrm>
          <a:prstGeom prst="rect">
            <a:avLst/>
          </a:prstGeom>
          <a:noFill/>
          <a:ln/>
        </p:spPr>
        <p:txBody>
          <a:bodyPr wrap="square" rtlCol="0" anchor="ctr"/>
          <a:lstStyle/>
          <a:p>
            <a:r>
              <a:rPr sz="1800">
                <a:solidFill>
                  <a:srgbClr val="CADCFC"/>
                </a:solidFill>
                <a:latin typeface="Calibri"/>
              </a:rPr>
              <a:t>एआय-सक्षम शैक्षणिक आशयाचे आकलन आणि अध्ययनार्थी विश्लेषण</a:t>
            </a:r>
          </a:p>
        </p:txBody>
      </p:sp>
      <p:sp>
        <p:nvSpPr>
          <p:cNvPr id="6" name="Shape 4"/>
          <p:cNvSpPr/>
          <p:nvPr/>
        </p:nvSpPr>
        <p:spPr>
          <a:xfrm>
            <a:off x="777240" y="3703320"/>
            <a:ext cx="502920" cy="45720"/>
          </a:xfrm>
          <a:prstGeom prst="rect">
            <a:avLst/>
          </a:prstGeom>
          <a:solidFill>
            <a:srgbClr val="3E6CB5"/>
          </a:solidFill>
          <a:ln/>
        </p:spPr>
        <p:txBody>
          <a:bodyPr/>
          <a:p/>
        </p:txBody>
      </p:sp>
      <p:sp>
        <p:nvSpPr>
          <p:cNvPr id="7" name="Shape 5"/>
          <p:cNvSpPr/>
          <p:nvPr/>
        </p:nvSpPr>
        <p:spPr>
          <a:xfrm>
            <a:off x="777240" y="5074920"/>
            <a:ext cx="457200" cy="457200"/>
          </a:xfrm>
          <a:prstGeom prst="ellipse">
            <a:avLst/>
          </a:prstGeom>
          <a:solidFill>
            <a:srgbClr val="3E6CB5"/>
          </a:solidFill>
          <a:ln/>
        </p:spPr>
        <p:txBody>
          <a:bodyPr/>
          <a:p/>
        </p:txBody>
      </p:sp>
      <p:sp>
        <p:nvSpPr>
          <p:cNvPr id="8" name="Text 6"/>
          <p:cNvSpPr/>
          <p:nvPr/>
        </p:nvSpPr>
        <p:spPr>
          <a:xfrm>
            <a:off x="777240" y="5074920"/>
            <a:ext cx="457200" cy="457200"/>
          </a:xfrm>
          <a:prstGeom prst="rect">
            <a:avLst/>
          </a:prstGeom>
          <a:noFill/>
          <a:ln/>
        </p:spPr>
        <p:txBody>
          <a:bodyPr wrap="square" lIns="0" tIns="0" rIns="0" bIns="0" rtlCol="0" anchor="ctr"/>
          <a:lstStyle/>
          <a:p>
            <a:r>
              <a:rPr sz="1400" b="1">
                <a:solidFill>
                  <a:srgbClr val="FFFFFF"/>
                </a:solidFill>
                <a:latin typeface="Calibri"/>
              </a:rPr>
              <a:t>आरएम</a:t>
            </a:r>
          </a:p>
        </p:txBody>
      </p:sp>
      <p:sp>
        <p:nvSpPr>
          <p:cNvPr id="9" name="Text 7"/>
          <p:cNvSpPr/>
          <p:nvPr/>
        </p:nvSpPr>
        <p:spPr>
          <a:xfrm>
            <a:off x="1344168" y="5074920"/>
            <a:ext cx="1920240" cy="457200"/>
          </a:xfrm>
          <a:prstGeom prst="rect">
            <a:avLst/>
          </a:prstGeom>
          <a:noFill/>
          <a:ln/>
        </p:spPr>
        <p:txBody>
          <a:bodyPr wrap="square" lIns="0" tIns="0" rIns="0" bIns="0" rtlCol="0" anchor="ctr"/>
          <a:lstStyle/>
          <a:p>
            <a:r>
              <a:rPr sz="1300">
                <a:solidFill>
                  <a:srgbClr val="FFFFFF"/>
                </a:solidFill>
                <a:latin typeface="Calibri"/>
              </a:rPr>
              <a:t>रोहन मेहता</a:t>
            </a:r>
          </a:p>
        </p:txBody>
      </p:sp>
      <p:sp>
        <p:nvSpPr>
          <p:cNvPr id="10" name="Shape 8"/>
          <p:cNvSpPr/>
          <p:nvPr/>
        </p:nvSpPr>
        <p:spPr>
          <a:xfrm>
            <a:off x="3383280" y="5074920"/>
            <a:ext cx="457200" cy="457200"/>
          </a:xfrm>
          <a:prstGeom prst="ellipse">
            <a:avLst/>
          </a:prstGeom>
          <a:solidFill>
            <a:srgbClr val="3E6CB5"/>
          </a:solidFill>
          <a:ln/>
        </p:spPr>
        <p:txBody>
          <a:bodyPr/>
          <a:p/>
        </p:txBody>
      </p:sp>
      <p:sp>
        <p:nvSpPr>
          <p:cNvPr id="11" name="Text 9"/>
          <p:cNvSpPr/>
          <p:nvPr/>
        </p:nvSpPr>
        <p:spPr>
          <a:xfrm>
            <a:off x="3383280" y="5074920"/>
            <a:ext cx="457200" cy="457200"/>
          </a:xfrm>
          <a:prstGeom prst="rect">
            <a:avLst/>
          </a:prstGeom>
          <a:noFill/>
          <a:ln/>
        </p:spPr>
        <p:txBody>
          <a:bodyPr wrap="square" lIns="0" tIns="0" rIns="0" bIns="0" rtlCol="0" anchor="ctr"/>
          <a:lstStyle/>
          <a:p>
            <a:r>
              <a:rPr sz="1400" b="1">
                <a:solidFill>
                  <a:srgbClr val="FFFFFF"/>
                </a:solidFill>
                <a:latin typeface="Calibri"/>
              </a:rPr>
              <a:t>एसके</a:t>
            </a:r>
          </a:p>
        </p:txBody>
      </p:sp>
      <p:sp>
        <p:nvSpPr>
          <p:cNvPr id="12" name="Text 10"/>
          <p:cNvSpPr/>
          <p:nvPr/>
        </p:nvSpPr>
        <p:spPr>
          <a:xfrm>
            <a:off x="3950208" y="5074920"/>
            <a:ext cx="1920240" cy="457200"/>
          </a:xfrm>
          <a:prstGeom prst="rect">
            <a:avLst/>
          </a:prstGeom>
          <a:noFill/>
          <a:ln/>
        </p:spPr>
        <p:txBody>
          <a:bodyPr wrap="square" lIns="0" tIns="0" rIns="0" bIns="0" rtlCol="0" anchor="ctr"/>
          <a:lstStyle/>
          <a:p>
            <a:r>
              <a:rPr sz="1300">
                <a:solidFill>
                  <a:srgbClr val="FFFFFF"/>
                </a:solidFill>
                <a:latin typeface="Calibri"/>
              </a:rPr>
              <a:t>स्नेहा कुलकर्णी</a:t>
            </a:r>
          </a:p>
        </p:txBody>
      </p:sp>
      <p:sp>
        <p:nvSpPr>
          <p:cNvPr id="13" name="Shape 11"/>
          <p:cNvSpPr/>
          <p:nvPr/>
        </p:nvSpPr>
        <p:spPr>
          <a:xfrm>
            <a:off x="5989320" y="5074920"/>
            <a:ext cx="457200" cy="457200"/>
          </a:xfrm>
          <a:prstGeom prst="ellipse">
            <a:avLst/>
          </a:prstGeom>
          <a:solidFill>
            <a:srgbClr val="3E6CB5"/>
          </a:solidFill>
          <a:ln/>
        </p:spPr>
        <p:txBody>
          <a:bodyPr/>
          <a:p/>
        </p:txBody>
      </p:sp>
      <p:sp>
        <p:nvSpPr>
          <p:cNvPr id="14" name="Text 12"/>
          <p:cNvSpPr/>
          <p:nvPr/>
        </p:nvSpPr>
        <p:spPr>
          <a:xfrm>
            <a:off x="5989320" y="5074920"/>
            <a:ext cx="457200" cy="457200"/>
          </a:xfrm>
          <a:prstGeom prst="rect">
            <a:avLst/>
          </a:prstGeom>
          <a:noFill/>
          <a:ln/>
        </p:spPr>
        <p:txBody>
          <a:bodyPr wrap="square" lIns="0" tIns="0" rIns="0" bIns="0" rtlCol="0" anchor="ctr"/>
          <a:lstStyle/>
          <a:p>
            <a:r>
              <a:rPr sz="1400" b="1">
                <a:solidFill>
                  <a:srgbClr val="FFFFFF"/>
                </a:solidFill>
                <a:latin typeface="Calibri"/>
              </a:rPr>
              <a:t>एव्ही</a:t>
            </a:r>
          </a:p>
        </p:txBody>
      </p:sp>
      <p:sp>
        <p:nvSpPr>
          <p:cNvPr id="15" name="Text 13"/>
          <p:cNvSpPr/>
          <p:nvPr/>
        </p:nvSpPr>
        <p:spPr>
          <a:xfrm>
            <a:off x="6556248" y="5074920"/>
            <a:ext cx="1920240" cy="457200"/>
          </a:xfrm>
          <a:prstGeom prst="rect">
            <a:avLst/>
          </a:prstGeom>
          <a:noFill/>
          <a:ln/>
        </p:spPr>
        <p:txBody>
          <a:bodyPr wrap="square" lIns="0" tIns="0" rIns="0" bIns="0" rtlCol="0" anchor="ctr"/>
          <a:lstStyle/>
          <a:p>
            <a:r>
              <a:rPr sz="1300">
                <a:solidFill>
                  <a:srgbClr val="FFFFFF"/>
                </a:solidFill>
                <a:latin typeface="Calibri"/>
              </a:rPr>
              <a:t>आदित्य वर्मा</a:t>
            </a:r>
          </a:p>
        </p:txBody>
      </p:sp>
      <p:sp>
        <p:nvSpPr>
          <p:cNvPr id="16" name="Shape 14"/>
          <p:cNvSpPr/>
          <p:nvPr/>
        </p:nvSpPr>
        <p:spPr>
          <a:xfrm>
            <a:off x="8595360" y="5074920"/>
            <a:ext cx="457200" cy="457200"/>
          </a:xfrm>
          <a:prstGeom prst="ellipse">
            <a:avLst/>
          </a:prstGeom>
          <a:solidFill>
            <a:srgbClr val="3E6CB5"/>
          </a:solidFill>
          <a:ln/>
        </p:spPr>
        <p:txBody>
          <a:bodyPr/>
          <a:p/>
        </p:txBody>
      </p:sp>
      <p:sp>
        <p:nvSpPr>
          <p:cNvPr id="17" name="Text 15"/>
          <p:cNvSpPr/>
          <p:nvPr/>
        </p:nvSpPr>
        <p:spPr>
          <a:xfrm>
            <a:off x="8595360" y="5074920"/>
            <a:ext cx="457200" cy="457200"/>
          </a:xfrm>
          <a:prstGeom prst="rect">
            <a:avLst/>
          </a:prstGeom>
          <a:noFill/>
          <a:ln/>
        </p:spPr>
        <p:txBody>
          <a:bodyPr wrap="square" lIns="0" tIns="0" rIns="0" bIns="0" rtlCol="0" anchor="ctr"/>
          <a:lstStyle/>
          <a:p>
            <a:r>
              <a:rPr sz="1400" b="1">
                <a:solidFill>
                  <a:srgbClr val="FFFFFF"/>
                </a:solidFill>
                <a:latin typeface="Calibri"/>
              </a:rPr>
              <a:t>पीएन</a:t>
            </a:r>
          </a:p>
        </p:txBody>
      </p:sp>
      <p:sp>
        <p:nvSpPr>
          <p:cNvPr id="18" name="Text 16"/>
          <p:cNvSpPr/>
          <p:nvPr/>
        </p:nvSpPr>
        <p:spPr>
          <a:xfrm>
            <a:off x="9162288" y="5074920"/>
            <a:ext cx="1920240" cy="457200"/>
          </a:xfrm>
          <a:prstGeom prst="rect">
            <a:avLst/>
          </a:prstGeom>
          <a:noFill/>
          <a:ln/>
        </p:spPr>
        <p:txBody>
          <a:bodyPr wrap="square" lIns="0" tIns="0" rIns="0" bIns="0" rtlCol="0" anchor="ctr"/>
          <a:lstStyle/>
          <a:p>
            <a:r>
              <a:rPr sz="1300">
                <a:solidFill>
                  <a:srgbClr val="FFFFFF"/>
                </a:solidFill>
                <a:latin typeface="Calibri"/>
              </a:rPr>
              <a:t>प्रिया नायर</a:t>
            </a:r>
          </a:p>
        </p:txBody>
      </p:sp>
      <p:sp>
        <p:nvSpPr>
          <p:cNvPr id="19" name="Text 17"/>
          <p:cNvSpPr/>
          <p:nvPr/>
        </p:nvSpPr>
        <p:spPr>
          <a:xfrm>
            <a:off x="777240" y="4617720"/>
            <a:ext cx="3657600" cy="320040"/>
          </a:xfrm>
          <a:prstGeom prst="rect">
            <a:avLst/>
          </a:prstGeom>
          <a:noFill/>
          <a:ln/>
        </p:spPr>
        <p:txBody>
          <a:bodyPr wrap="square" rtlCol="0" anchor="ctr"/>
          <a:lstStyle/>
          <a:p>
            <a:r>
              <a:rPr sz="1200" i="1">
                <a:solidFill>
                  <a:srgbClr val="CADCFC"/>
                </a:solidFill>
                <a:latin typeface="Calibri"/>
              </a:rPr>
              <a:t>संघ सदस्य</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आढावा</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रेकॉर्डिंगचे संरचित अध्ययनात रूपांतर</a:t>
            </a:r>
          </a:p>
        </p:txBody>
      </p:sp>
      <p:sp>
        <p:nvSpPr>
          <p:cNvPr id="4" name="Text 2"/>
          <p:cNvSpPr/>
          <p:nvPr/>
        </p:nvSpPr>
        <p:spPr>
          <a:xfrm>
            <a:off x="548640" y="1600200"/>
            <a:ext cx="6126480" cy="1828800"/>
          </a:xfrm>
          <a:prstGeom prst="rect">
            <a:avLst/>
          </a:prstGeom>
          <a:noFill/>
          <a:ln/>
        </p:spPr>
        <p:txBody>
          <a:bodyPr wrap="square" rtlCol="0" anchor="ctr"/>
          <a:lstStyle/>
          <a:p>
            <a:r>
              <a:rPr sz="1500">
                <a:solidFill>
                  <a:srgbClr val="1B1F3B"/>
                </a:solidFill>
                <a:latin typeface="Calibri"/>
              </a:rPr>
              <a:t>ग्रॅस्पिफाय बहुभाषिक शैक्षणिक ऑडिओ किंवा व्हिडिओचे (~30 मिनिटांपर्यंत) संरचित अध्ययन साहित्यात, आशयाधारित प्रश्नोत्तरांमध्ये, स्वयंचलितपणे तयार केलेल्या मूल्यमापनांमध्ये आणि संकल्पना-पातळीवरील आकलनाच्या अंदाजांमध्ये रूपांतर करते.</a:t>
            </a:r>
          </a:p>
        </p:txBody>
      </p:sp>
      <p:sp>
        <p:nvSpPr>
          <p:cNvPr id="5" name="Text 3"/>
          <p:cNvSpPr/>
          <p:nvPr/>
        </p:nvSpPr>
        <p:spPr>
          <a:xfrm>
            <a:off x="548640" y="3246120"/>
            <a:ext cx="6126480" cy="1463040"/>
          </a:xfrm>
          <a:prstGeom prst="rect">
            <a:avLst/>
          </a:prstGeom>
          <a:noFill/>
          <a:ln/>
        </p:spPr>
        <p:txBody>
          <a:bodyPr wrap="square" rtlCol="0" anchor="ctr"/>
          <a:lstStyle/>
          <a:p>
            <a:r>
              <a:rPr sz="1500">
                <a:solidFill>
                  <a:srgbClr val="1B1F3B"/>
                </a:solidFill>
                <a:latin typeface="Calibri"/>
              </a:rPr>
              <a:t>अध्ययनार्थी फाइल अपलोड करू शकतात किंवा YouTube लिंक पेस्ट करू शकतात, त्यानंतर आशयाशी संवाद साधू शकतात, तयार केलेल्या प्रश्नमंजुषा सोडवू शकतात आणि प्रत्यक्षात काय सांगितले गेले यावर आधारित उजळणीच्या शिफारशी मिळवू शकतात.</a:t>
            </a:r>
          </a:p>
        </p:txBody>
      </p:sp>
      <p:sp>
        <p:nvSpPr>
          <p:cNvPr id="6" name="Shape 4"/>
          <p:cNvSpPr/>
          <p:nvPr/>
        </p:nvSpPr>
        <p:spPr>
          <a:xfrm>
            <a:off x="548640" y="4892040"/>
            <a:ext cx="6126480" cy="822960"/>
          </a:xfrm>
          <a:prstGeom prst="rect">
            <a:avLst>
              <a:gd name="adj" fmla="val 8889"/>
            </a:avLst>
          </a:prstGeom>
          <a:solidFill>
            <a:srgbClr val="CADCFC"/>
          </a:solidFill>
          <a:ln/>
        </p:spPr>
        <p:txBody>
          <a:bodyPr/>
          <a:p/>
        </p:txBody>
      </p:sp>
      <p:sp>
        <p:nvSpPr>
          <p:cNvPr id="7" name="Text 5"/>
          <p:cNvSpPr/>
          <p:nvPr/>
        </p:nvSpPr>
        <p:spPr>
          <a:xfrm>
            <a:off x="777240" y="4892040"/>
            <a:ext cx="5669280" cy="822960"/>
          </a:xfrm>
          <a:prstGeom prst="rect">
            <a:avLst/>
          </a:prstGeom>
          <a:noFill/>
          <a:ln/>
        </p:spPr>
        <p:txBody>
          <a:bodyPr wrap="square" lIns="0" tIns="0" rIns="0" bIns="0" rtlCol="0" anchor="ctr"/>
          <a:lstStyle/>
          <a:p>
            <a:r>
              <a:rPr sz="1150" i="1">
                <a:solidFill>
                  <a:srgbClr val="1E2761"/>
                </a:solidFill>
                <a:latin typeface="Calibri"/>
              </a:rPr>
              <a:t>टीप: आकलनाचे अंदाज प्रश्नमंजुषा आणि परस्परसंवादातील निरीक्षणयोग्य कामगिरी दर्शवतात — ते संज्ञानात्मक क्षमतेचे मापन नाहीत.</a:t>
            </a:r>
          </a:p>
        </p:txBody>
      </p:sp>
      <p:sp>
        <p:nvSpPr>
          <p:cNvPr id="8" name="Shape 6"/>
          <p:cNvSpPr/>
          <p:nvPr/>
        </p:nvSpPr>
        <p:spPr>
          <a:xfrm>
            <a:off x="7132320" y="1600200"/>
            <a:ext cx="4480560" cy="4114800"/>
          </a:xfrm>
          <a:prstGeom prst="roundRect">
            <a:avLst>
              <a:gd name="adj" fmla="val 2667"/>
            </a:avLst>
          </a:prstGeom>
          <a:solidFill>
            <a:srgbClr val="1E2761"/>
          </a:solidFill>
          <a:ln/>
        </p:spPr>
        <p:txBody>
          <a:bodyPr/>
          <a:p/>
        </p:txBody>
      </p:sp>
      <p:sp>
        <p:nvSpPr>
          <p:cNvPr id="9" name="Text 7"/>
          <p:cNvSpPr/>
          <p:nvPr/>
        </p:nvSpPr>
        <p:spPr>
          <a:xfrm>
            <a:off x="7498080" y="1874520"/>
            <a:ext cx="3749040" cy="274320"/>
          </a:xfrm>
          <a:prstGeom prst="rect">
            <a:avLst/>
          </a:prstGeom>
          <a:noFill/>
          <a:ln/>
        </p:spPr>
        <p:txBody>
          <a:bodyPr wrap="square" rtlCol="0" anchor="ctr"/>
          <a:lstStyle/>
          <a:p>
            <a:r>
              <a:rPr sz="1100" b="1">
                <a:solidFill>
                  <a:srgbClr val="3E6CB5"/>
                </a:solidFill>
                <a:latin typeface="Calibri"/>
              </a:rPr>
              <a:t>इनपुट</a:t>
            </a:r>
          </a:p>
        </p:txBody>
      </p:sp>
      <p:sp>
        <p:nvSpPr>
          <p:cNvPr id="10" name="Text 8"/>
          <p:cNvSpPr/>
          <p:nvPr/>
        </p:nvSpPr>
        <p:spPr>
          <a:xfrm>
            <a:off x="7498080" y="2148840"/>
            <a:ext cx="3749040" cy="640080"/>
          </a:xfrm>
          <a:prstGeom prst="rect">
            <a:avLst/>
          </a:prstGeom>
          <a:noFill/>
          <a:ln/>
        </p:spPr>
        <p:txBody>
          <a:bodyPr wrap="square" rtlCol="0" anchor="ctr"/>
          <a:lstStyle/>
          <a:p>
            <a:r>
              <a:rPr sz="1400">
                <a:solidFill>
                  <a:srgbClr val="FFFFFF"/>
                </a:solidFill>
                <a:latin typeface="Calibri"/>
              </a:rPr>
              <a:t>ऑडिओ / व्हिडिओ फाइल</a:t>
            </a:r>
          </a:p>
          <a:p>
            <a:r>
              <a:rPr sz="1400">
                <a:solidFill>
                  <a:srgbClr val="FFFFFF"/>
                </a:solidFill>
                <a:latin typeface="Calibri"/>
              </a:rPr>
              <a:t>किंवा YouTube URL</a:t>
            </a:r>
          </a:p>
        </p:txBody>
      </p:sp>
      <p:sp>
        <p:nvSpPr>
          <p:cNvPr id="11" name="Shape 9"/>
          <p:cNvSpPr/>
          <p:nvPr/>
        </p:nvSpPr>
        <p:spPr>
          <a:xfrm>
            <a:off x="7498080" y="2926080"/>
            <a:ext cx="3749040" cy="0"/>
          </a:xfrm>
          <a:prstGeom prst="line">
            <a:avLst/>
          </a:prstGeom>
          <a:noFill/>
          <a:ln w="12700">
            <a:solidFill>
              <a:srgbClr val="5B6B8C"/>
            </a:solidFill>
            <a:prstDash val="solid"/>
          </a:ln>
        </p:spPr>
        <p:txBody>
          <a:bodyPr/>
          <a:p/>
        </p:txBody>
      </p:sp>
      <p:sp>
        <p:nvSpPr>
          <p:cNvPr id="12" name="Text 10"/>
          <p:cNvSpPr/>
          <p:nvPr/>
        </p:nvSpPr>
        <p:spPr>
          <a:xfrm>
            <a:off x="7498080" y="3108960"/>
            <a:ext cx="3749040" cy="274320"/>
          </a:xfrm>
          <a:prstGeom prst="rect">
            <a:avLst/>
          </a:prstGeom>
          <a:noFill/>
          <a:ln/>
        </p:spPr>
        <p:txBody>
          <a:bodyPr wrap="square" rtlCol="0" anchor="ctr"/>
          <a:lstStyle/>
          <a:p>
            <a:r>
              <a:rPr sz="1100" b="1">
                <a:solidFill>
                  <a:srgbClr val="3E6CB5"/>
                </a:solidFill>
                <a:latin typeface="Calibri"/>
              </a:rPr>
              <a:t>आउटपुट</a:t>
            </a:r>
          </a:p>
        </p:txBody>
      </p:sp>
      <p:sp>
        <p:nvSpPr>
          <p:cNvPr id="13" name="Shape 11"/>
          <p:cNvSpPr/>
          <p:nvPr/>
        </p:nvSpPr>
        <p:spPr>
          <a:xfrm>
            <a:off x="7498080" y="3456432"/>
            <a:ext cx="109728" cy="109728"/>
          </a:xfrm>
          <a:prstGeom prst="ellipse">
            <a:avLst/>
          </a:prstGeom>
          <a:solidFill>
            <a:srgbClr val="CADCFC"/>
          </a:solidFill>
          <a:ln/>
        </p:spPr>
        <p:txBody>
          <a:bodyPr/>
          <a:p/>
        </p:txBody>
      </p:sp>
      <p:sp>
        <p:nvSpPr>
          <p:cNvPr id="14" name="Text 12"/>
          <p:cNvSpPr/>
          <p:nvPr/>
        </p:nvSpPr>
        <p:spPr>
          <a:xfrm>
            <a:off x="7726680" y="3364992"/>
            <a:ext cx="3474720" cy="320040"/>
          </a:xfrm>
          <a:prstGeom prst="rect">
            <a:avLst/>
          </a:prstGeom>
          <a:noFill/>
          <a:ln/>
        </p:spPr>
        <p:txBody>
          <a:bodyPr wrap="square" lIns="0" tIns="0" rIns="0" bIns="0" rtlCol="0" anchor="ctr"/>
          <a:lstStyle/>
          <a:p>
            <a:r>
              <a:rPr sz="1300">
                <a:solidFill>
                  <a:srgbClr val="CADCFC"/>
                </a:solidFill>
                <a:latin typeface="Calibri"/>
              </a:rPr>
              <a:t>संरचित नोंदी आणि फ्लॅशकार्ड्स</a:t>
            </a:r>
          </a:p>
        </p:txBody>
      </p:sp>
      <p:sp>
        <p:nvSpPr>
          <p:cNvPr id="15" name="Shape 13"/>
          <p:cNvSpPr/>
          <p:nvPr/>
        </p:nvSpPr>
        <p:spPr>
          <a:xfrm>
            <a:off x="7498080" y="3913632"/>
            <a:ext cx="109728" cy="109728"/>
          </a:xfrm>
          <a:prstGeom prst="ellipse">
            <a:avLst/>
          </a:prstGeom>
          <a:solidFill>
            <a:srgbClr val="CADCFC"/>
          </a:solidFill>
          <a:ln/>
        </p:spPr>
        <p:txBody>
          <a:bodyPr/>
          <a:p/>
        </p:txBody>
      </p:sp>
      <p:sp>
        <p:nvSpPr>
          <p:cNvPr id="16" name="Text 14"/>
          <p:cNvSpPr/>
          <p:nvPr/>
        </p:nvSpPr>
        <p:spPr>
          <a:xfrm>
            <a:off x="7726680" y="3822192"/>
            <a:ext cx="3474720" cy="320040"/>
          </a:xfrm>
          <a:prstGeom prst="rect">
            <a:avLst/>
          </a:prstGeom>
          <a:noFill/>
          <a:ln/>
        </p:spPr>
        <p:txBody>
          <a:bodyPr wrap="square" lIns="0" tIns="0" rIns="0" bIns="0" rtlCol="0" anchor="ctr"/>
          <a:lstStyle/>
          <a:p>
            <a:r>
              <a:rPr sz="1300">
                <a:solidFill>
                  <a:srgbClr val="CADCFC"/>
                </a:solidFill>
                <a:latin typeface="Calibri"/>
              </a:rPr>
              <a:t>आधारभूत RAG चॅट</a:t>
            </a:r>
          </a:p>
        </p:txBody>
      </p:sp>
      <p:sp>
        <p:nvSpPr>
          <p:cNvPr id="17" name="Shape 15"/>
          <p:cNvSpPr/>
          <p:nvPr/>
        </p:nvSpPr>
        <p:spPr>
          <a:xfrm>
            <a:off x="7498080" y="4370832"/>
            <a:ext cx="109728" cy="109728"/>
          </a:xfrm>
          <a:prstGeom prst="ellipse">
            <a:avLst/>
          </a:prstGeom>
          <a:solidFill>
            <a:srgbClr val="CADCFC"/>
          </a:solidFill>
          <a:ln/>
        </p:spPr>
        <p:txBody>
          <a:bodyPr/>
          <a:p/>
        </p:txBody>
      </p:sp>
      <p:sp>
        <p:nvSpPr>
          <p:cNvPr id="18" name="Text 16"/>
          <p:cNvSpPr/>
          <p:nvPr/>
        </p:nvSpPr>
        <p:spPr>
          <a:xfrm>
            <a:off x="7726680" y="4279392"/>
            <a:ext cx="3474720" cy="320040"/>
          </a:xfrm>
          <a:prstGeom prst="rect">
            <a:avLst/>
          </a:prstGeom>
          <a:noFill/>
          <a:ln/>
        </p:spPr>
        <p:txBody>
          <a:bodyPr wrap="square" lIns="0" tIns="0" rIns="0" bIns="0" rtlCol="0" anchor="ctr"/>
          <a:lstStyle/>
          <a:p>
            <a:r>
              <a:rPr sz="1300">
                <a:solidFill>
                  <a:srgbClr val="CADCFC"/>
                </a:solidFill>
                <a:latin typeface="Calibri"/>
              </a:rPr>
              <a:t>स्वयं-निर्मित प्रश्नमंजुषा</a:t>
            </a:r>
          </a:p>
        </p:txBody>
      </p:sp>
      <p:sp>
        <p:nvSpPr>
          <p:cNvPr id="19" name="Shape 17"/>
          <p:cNvSpPr/>
          <p:nvPr/>
        </p:nvSpPr>
        <p:spPr>
          <a:xfrm>
            <a:off x="7498080" y="4828032"/>
            <a:ext cx="109728" cy="109728"/>
          </a:xfrm>
          <a:prstGeom prst="ellipse">
            <a:avLst/>
          </a:prstGeom>
          <a:solidFill>
            <a:srgbClr val="CADCFC"/>
          </a:solidFill>
          <a:ln/>
        </p:spPr>
        <p:txBody>
          <a:bodyPr/>
          <a:p/>
        </p:txBody>
      </p:sp>
      <p:sp>
        <p:nvSpPr>
          <p:cNvPr id="20" name="Text 18"/>
          <p:cNvSpPr/>
          <p:nvPr/>
        </p:nvSpPr>
        <p:spPr>
          <a:xfrm>
            <a:off x="7726680" y="4736592"/>
            <a:ext cx="3474720" cy="320040"/>
          </a:xfrm>
          <a:prstGeom prst="rect">
            <a:avLst/>
          </a:prstGeom>
          <a:noFill/>
          <a:ln/>
        </p:spPr>
        <p:txBody>
          <a:bodyPr wrap="square" lIns="0" tIns="0" rIns="0" bIns="0" rtlCol="0" anchor="ctr"/>
          <a:lstStyle/>
          <a:p>
            <a:r>
              <a:rPr sz="1300">
                <a:solidFill>
                  <a:srgbClr val="CADCFC"/>
                </a:solidFill>
                <a:latin typeface="Calibri"/>
              </a:rPr>
              <a:t>आकलन-पातळीचा अंदाज</a:t>
            </a:r>
          </a:p>
        </p:txBody>
      </p:sp>
      <p:sp>
        <p:nvSpPr>
          <p:cNvPr id="21" name="Text 19"/>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22" name="Text 20"/>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प्रेरणा</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Graspify भरून काढत असलेली उणीव</a:t>
            </a:r>
          </a:p>
        </p:txBody>
      </p:sp>
      <p:sp>
        <p:nvSpPr>
          <p:cNvPr id="4" name="Shape 2"/>
          <p:cNvSpPr/>
          <p:nvPr/>
        </p:nvSpPr>
        <p:spPr>
          <a:xfrm>
            <a:off x="548640" y="1737360"/>
            <a:ext cx="5349240" cy="2011680"/>
          </a:xfrm>
          <a:prstGeom prst="roundRect">
            <a:avLst>
              <a:gd name="adj" fmla="val 4545"/>
            </a:avLst>
          </a:prstGeom>
          <a:solidFill>
            <a:srgbClr val="F4F6FB"/>
          </a:solidFill>
          <a:ln/>
        </p:spPr>
        <p:txBody>
          <a:bodyPr/>
          <a:p/>
        </p:txBody>
      </p:sp>
      <p:sp>
        <p:nvSpPr>
          <p:cNvPr id="5" name="Shape 3"/>
          <p:cNvSpPr/>
          <p:nvPr/>
        </p:nvSpPr>
        <p:spPr>
          <a:xfrm>
            <a:off x="868680" y="2057400"/>
            <a:ext cx="502920" cy="502920"/>
          </a:xfrm>
          <a:prstGeom prst="ellipse">
            <a:avLst/>
          </a:prstGeom>
          <a:solidFill>
            <a:srgbClr val="1E2761"/>
          </a:solidFill>
          <a:ln/>
        </p:spPr>
        <p:txBody>
          <a:bodyPr/>
          <a:p/>
        </p:txBody>
      </p:sp>
      <p:sp>
        <p:nvSpPr>
          <p:cNvPr id="6" name="Text 4"/>
          <p:cNvSpPr/>
          <p:nvPr/>
        </p:nvSpPr>
        <p:spPr>
          <a:xfrm>
            <a:off x="868680" y="2057400"/>
            <a:ext cx="502920" cy="502920"/>
          </a:xfrm>
          <a:prstGeom prst="rect">
            <a:avLst/>
          </a:prstGeom>
          <a:noFill/>
          <a:ln/>
        </p:spPr>
        <p:txBody>
          <a:bodyPr wrap="square" lIns="0" tIns="0" rIns="0" bIns="0" rtlCol="0" anchor="ctr"/>
          <a:lstStyle/>
          <a:p>
            <a:r>
              <a:rPr sz="1800" b="1">
                <a:solidFill>
                  <a:srgbClr val="FFFFFF"/>
                </a:solidFill>
                <a:latin typeface="Cambria"/>
              </a:rPr>
              <a:t>1</a:t>
            </a:r>
          </a:p>
        </p:txBody>
      </p:sp>
      <p:sp>
        <p:nvSpPr>
          <p:cNvPr id="7" name="Text 5"/>
          <p:cNvSpPr/>
          <p:nvPr/>
        </p:nvSpPr>
        <p:spPr>
          <a:xfrm>
            <a:off x="1554480" y="2011680"/>
            <a:ext cx="4069080" cy="365760"/>
          </a:xfrm>
          <a:prstGeom prst="rect">
            <a:avLst/>
          </a:prstGeom>
          <a:noFill/>
          <a:ln/>
        </p:spPr>
        <p:txBody>
          <a:bodyPr wrap="square" rtlCol="0" anchor="ctr"/>
          <a:lstStyle/>
          <a:p>
            <a:r>
              <a:rPr sz="1600" b="1">
                <a:solidFill>
                  <a:srgbClr val="1B1F3B"/>
                </a:solidFill>
                <a:latin typeface="Calibri"/>
              </a:rPr>
              <a:t>भाषेचे अडथळे</a:t>
            </a:r>
          </a:p>
        </p:txBody>
      </p:sp>
      <p:sp>
        <p:nvSpPr>
          <p:cNvPr id="8" name="Text 6"/>
          <p:cNvSpPr/>
          <p:nvPr/>
        </p:nvSpPr>
        <p:spPr>
          <a:xfrm>
            <a:off x="868680" y="2651760"/>
            <a:ext cx="4709160" cy="914400"/>
          </a:xfrm>
          <a:prstGeom prst="rect">
            <a:avLst/>
          </a:prstGeom>
          <a:noFill/>
          <a:ln/>
        </p:spPr>
        <p:txBody>
          <a:bodyPr wrap="square" rtlCol="0" anchor="ctr"/>
          <a:lstStyle/>
          <a:p>
            <a:r>
              <a:rPr sz="1250">
                <a:solidFill>
                  <a:srgbClr val="6B7390"/>
                </a:solidFill>
                <a:latin typeface="Calibri"/>
              </a:rPr>
              <a:t>शैक्षणिक ध्वनिमुद्रणे अनेकदा शिकणाऱ्याच्या पसंतीच्या भाषेत नसतात, ज्यामुळे आकलन मर्यादित होते.</a:t>
            </a:r>
          </a:p>
        </p:txBody>
      </p:sp>
      <p:sp>
        <p:nvSpPr>
          <p:cNvPr id="9" name="Shape 7"/>
          <p:cNvSpPr/>
          <p:nvPr/>
        </p:nvSpPr>
        <p:spPr>
          <a:xfrm>
            <a:off x="6263640" y="1737360"/>
            <a:ext cx="5349240" cy="2011680"/>
          </a:xfrm>
          <a:prstGeom prst="roundRect">
            <a:avLst>
              <a:gd name="adj" fmla="val 4545"/>
            </a:avLst>
          </a:prstGeom>
          <a:solidFill>
            <a:srgbClr val="F4F6FB"/>
          </a:solidFill>
          <a:ln/>
        </p:spPr>
        <p:txBody>
          <a:bodyPr/>
          <a:p/>
        </p:txBody>
      </p:sp>
      <p:sp>
        <p:nvSpPr>
          <p:cNvPr id="10" name="Shape 8"/>
          <p:cNvSpPr/>
          <p:nvPr/>
        </p:nvSpPr>
        <p:spPr>
          <a:xfrm>
            <a:off x="6583680" y="2057400"/>
            <a:ext cx="502920" cy="502920"/>
          </a:xfrm>
          <a:prstGeom prst="ellipse">
            <a:avLst/>
          </a:prstGeom>
          <a:solidFill>
            <a:srgbClr val="1E2761"/>
          </a:solidFill>
          <a:ln/>
        </p:spPr>
        <p:txBody>
          <a:bodyPr/>
          <a:p/>
        </p:txBody>
      </p:sp>
      <p:sp>
        <p:nvSpPr>
          <p:cNvPr id="11" name="Text 9"/>
          <p:cNvSpPr/>
          <p:nvPr/>
        </p:nvSpPr>
        <p:spPr>
          <a:xfrm>
            <a:off x="6583680" y="2057400"/>
            <a:ext cx="502920" cy="502920"/>
          </a:xfrm>
          <a:prstGeom prst="rect">
            <a:avLst/>
          </a:prstGeom>
          <a:noFill/>
          <a:ln/>
        </p:spPr>
        <p:txBody>
          <a:bodyPr wrap="square" lIns="0" tIns="0" rIns="0" bIns="0" rtlCol="0" anchor="ctr"/>
          <a:lstStyle/>
          <a:p>
            <a:r>
              <a:rPr sz="1800" b="1">
                <a:solidFill>
                  <a:srgbClr val="FFFFFF"/>
                </a:solidFill>
                <a:latin typeface="Cambria"/>
              </a:rPr>
              <a:t>2</a:t>
            </a:r>
          </a:p>
        </p:txBody>
      </p:sp>
      <p:sp>
        <p:nvSpPr>
          <p:cNvPr id="12" name="Text 10"/>
          <p:cNvSpPr/>
          <p:nvPr/>
        </p:nvSpPr>
        <p:spPr>
          <a:xfrm>
            <a:off x="7269480" y="2011680"/>
            <a:ext cx="4069080" cy="365760"/>
          </a:xfrm>
          <a:prstGeom prst="rect">
            <a:avLst/>
          </a:prstGeom>
          <a:noFill/>
          <a:ln/>
        </p:spPr>
        <p:txBody>
          <a:bodyPr wrap="square" rtlCol="0" anchor="ctr"/>
          <a:lstStyle/>
          <a:p>
            <a:r>
              <a:rPr sz="1600" b="1">
                <a:solidFill>
                  <a:srgbClr val="1B1F3B"/>
                </a:solidFill>
                <a:latin typeface="Calibri"/>
              </a:rPr>
              <a:t>निष्क्रिय ग्रहण</a:t>
            </a:r>
          </a:p>
        </p:txBody>
      </p:sp>
      <p:sp>
        <p:nvSpPr>
          <p:cNvPr id="13" name="Text 11"/>
          <p:cNvSpPr/>
          <p:nvPr/>
        </p:nvSpPr>
        <p:spPr>
          <a:xfrm>
            <a:off x="6583680" y="2651760"/>
            <a:ext cx="4709160" cy="914400"/>
          </a:xfrm>
          <a:prstGeom prst="rect">
            <a:avLst/>
          </a:prstGeom>
          <a:noFill/>
          <a:ln/>
        </p:spPr>
        <p:txBody>
          <a:bodyPr wrap="square" rtlCol="0" anchor="ctr"/>
          <a:lstStyle/>
          <a:p>
            <a:r>
              <a:rPr sz="1250">
                <a:solidFill>
                  <a:srgbClr val="6B7390"/>
                </a:solidFill>
                <a:latin typeface="Calibri"/>
              </a:rPr>
              <a:t>पाहिलेल्या किंवा ऐकलेल्या गोष्टींचे दीर्घकाळ लक्षात राहणाऱ्या, चाचणी घेता येण्याजोग्या ज्ञानात क्वचितच रूपांतर होते.</a:t>
            </a:r>
          </a:p>
        </p:txBody>
      </p:sp>
      <p:sp>
        <p:nvSpPr>
          <p:cNvPr id="14" name="Shape 12"/>
          <p:cNvSpPr/>
          <p:nvPr/>
        </p:nvSpPr>
        <p:spPr>
          <a:xfrm>
            <a:off x="548640" y="4069080"/>
            <a:ext cx="5349240" cy="2011680"/>
          </a:xfrm>
          <a:prstGeom prst="roundRect">
            <a:avLst>
              <a:gd name="adj" fmla="val 4545"/>
            </a:avLst>
          </a:prstGeom>
          <a:solidFill>
            <a:srgbClr val="F4F6FB"/>
          </a:solidFill>
          <a:ln/>
        </p:spPr>
        <p:txBody>
          <a:bodyPr/>
          <a:p/>
        </p:txBody>
      </p:sp>
      <p:sp>
        <p:nvSpPr>
          <p:cNvPr id="15" name="Shape 13"/>
          <p:cNvSpPr/>
          <p:nvPr/>
        </p:nvSpPr>
        <p:spPr>
          <a:xfrm>
            <a:off x="868680" y="4389120"/>
            <a:ext cx="502920" cy="502920"/>
          </a:xfrm>
          <a:prstGeom prst="ellipse">
            <a:avLst/>
          </a:prstGeom>
          <a:solidFill>
            <a:srgbClr val="1E2761"/>
          </a:solidFill>
          <a:ln/>
        </p:spPr>
        <p:txBody>
          <a:bodyPr/>
          <a:p/>
        </p:txBody>
      </p:sp>
      <p:sp>
        <p:nvSpPr>
          <p:cNvPr id="16" name="Text 14"/>
          <p:cNvSpPr/>
          <p:nvPr/>
        </p:nvSpPr>
        <p:spPr>
          <a:xfrm>
            <a:off x="868680" y="4389120"/>
            <a:ext cx="502920" cy="502920"/>
          </a:xfrm>
          <a:prstGeom prst="rect">
            <a:avLst/>
          </a:prstGeom>
          <a:noFill/>
          <a:ln/>
        </p:spPr>
        <p:txBody>
          <a:bodyPr wrap="square" lIns="0" tIns="0" rIns="0" bIns="0" rtlCol="0" anchor="ctr"/>
          <a:lstStyle/>
          <a:p>
            <a:r>
              <a:rPr sz="1800" b="1">
                <a:solidFill>
                  <a:srgbClr val="FFFFFF"/>
                </a:solidFill>
                <a:latin typeface="Cambria"/>
              </a:rPr>
              <a:t>3</a:t>
            </a:r>
          </a:p>
        </p:txBody>
      </p:sp>
      <p:sp>
        <p:nvSpPr>
          <p:cNvPr id="17" name="Text 15"/>
          <p:cNvSpPr/>
          <p:nvPr/>
        </p:nvSpPr>
        <p:spPr>
          <a:xfrm>
            <a:off x="1554480" y="4343400"/>
            <a:ext cx="4069080" cy="365760"/>
          </a:xfrm>
          <a:prstGeom prst="rect">
            <a:avLst/>
          </a:prstGeom>
          <a:noFill/>
          <a:ln/>
        </p:spPr>
        <p:txBody>
          <a:bodyPr wrap="square" rtlCol="0" anchor="ctr"/>
          <a:lstStyle/>
          <a:p>
            <a:r>
              <a:rPr sz="1600" b="1">
                <a:solidFill>
                  <a:srgbClr val="1B1F3B"/>
                </a:solidFill>
                <a:latin typeface="Calibri"/>
              </a:rPr>
              <a:t>अभिप्रायाची व्यवस्था नाही</a:t>
            </a:r>
          </a:p>
        </p:txBody>
      </p:sp>
      <p:sp>
        <p:nvSpPr>
          <p:cNvPr id="18" name="Text 16"/>
          <p:cNvSpPr/>
          <p:nvPr/>
        </p:nvSpPr>
        <p:spPr>
          <a:xfrm>
            <a:off x="868680" y="4983480"/>
            <a:ext cx="4709160" cy="914400"/>
          </a:xfrm>
          <a:prstGeom prst="rect">
            <a:avLst/>
          </a:prstGeom>
          <a:noFill/>
          <a:ln/>
        </p:spPr>
        <p:txBody>
          <a:bodyPr wrap="square" rtlCol="0" anchor="ctr"/>
          <a:lstStyle/>
          <a:p>
            <a:r>
              <a:rPr sz="1250">
                <a:solidFill>
                  <a:srgbClr val="6B7390"/>
                </a:solidFill>
                <a:latin typeface="Calibri"/>
              </a:rPr>
              <a:t>शिकणाऱ्यांना क्वचितच समजते की त्यांनी कोणत्या संकल्पना खरोखर आत्मसात केल्या आहेत आणि कोणत्या फक्त वरवर वाचल्या आहेत.</a:t>
            </a:r>
          </a:p>
        </p:txBody>
      </p:sp>
      <p:sp>
        <p:nvSpPr>
          <p:cNvPr id="19" name="Shape 17"/>
          <p:cNvSpPr/>
          <p:nvPr/>
        </p:nvSpPr>
        <p:spPr>
          <a:xfrm>
            <a:off x="6263640" y="4069080"/>
            <a:ext cx="5349240" cy="2011680"/>
          </a:xfrm>
          <a:prstGeom prst="roundRect">
            <a:avLst>
              <a:gd name="adj" fmla="val 4545"/>
            </a:avLst>
          </a:prstGeom>
          <a:solidFill>
            <a:srgbClr val="F4F6FB"/>
          </a:solidFill>
          <a:ln/>
        </p:spPr>
        <p:txBody>
          <a:bodyPr/>
          <a:p/>
        </p:txBody>
      </p:sp>
      <p:sp>
        <p:nvSpPr>
          <p:cNvPr id="20" name="Shape 18"/>
          <p:cNvSpPr/>
          <p:nvPr/>
        </p:nvSpPr>
        <p:spPr>
          <a:xfrm>
            <a:off x="6583680" y="4389120"/>
            <a:ext cx="502920" cy="502920"/>
          </a:xfrm>
          <a:prstGeom prst="ellipse">
            <a:avLst/>
          </a:prstGeom>
          <a:solidFill>
            <a:srgbClr val="1E2761"/>
          </a:solidFill>
          <a:ln/>
        </p:spPr>
        <p:txBody>
          <a:bodyPr/>
          <a:p/>
        </p:txBody>
      </p:sp>
      <p:sp>
        <p:nvSpPr>
          <p:cNvPr id="21" name="Text 19"/>
          <p:cNvSpPr/>
          <p:nvPr/>
        </p:nvSpPr>
        <p:spPr>
          <a:xfrm>
            <a:off x="6583680" y="4389120"/>
            <a:ext cx="502920" cy="502920"/>
          </a:xfrm>
          <a:prstGeom prst="rect">
            <a:avLst/>
          </a:prstGeom>
          <a:noFill/>
          <a:ln/>
        </p:spPr>
        <p:txBody>
          <a:bodyPr wrap="square" lIns="0" tIns="0" rIns="0" bIns="0" rtlCol="0" anchor="ctr"/>
          <a:lstStyle/>
          <a:p>
            <a:r>
              <a:rPr sz="1800" b="1">
                <a:solidFill>
                  <a:srgbClr val="FFFFFF"/>
                </a:solidFill>
                <a:latin typeface="Cambria"/>
              </a:rPr>
              <a:t>4</a:t>
            </a:r>
          </a:p>
        </p:txBody>
      </p:sp>
      <p:sp>
        <p:nvSpPr>
          <p:cNvPr id="22" name="Text 20"/>
          <p:cNvSpPr/>
          <p:nvPr/>
        </p:nvSpPr>
        <p:spPr>
          <a:xfrm>
            <a:off x="7269480" y="4343400"/>
            <a:ext cx="4069080" cy="365760"/>
          </a:xfrm>
          <a:prstGeom prst="rect">
            <a:avLst/>
          </a:prstGeom>
          <a:noFill/>
          <a:ln/>
        </p:spPr>
        <p:txBody>
          <a:bodyPr wrap="square" rtlCol="0" anchor="ctr"/>
          <a:lstStyle/>
          <a:p>
            <a:r>
              <a:rPr sz="1600" b="1">
                <a:solidFill>
                  <a:srgbClr val="1B1F3B"/>
                </a:solidFill>
                <a:latin typeface="Calibri"/>
              </a:rPr>
              <a:t>स्वहस्ते करावे लागणारे काम</a:t>
            </a:r>
          </a:p>
        </p:txBody>
      </p:sp>
      <p:sp>
        <p:nvSpPr>
          <p:cNvPr id="23" name="Text 21"/>
          <p:cNvSpPr/>
          <p:nvPr/>
        </p:nvSpPr>
        <p:spPr>
          <a:xfrm>
            <a:off x="6583680" y="4983480"/>
            <a:ext cx="4709160" cy="914400"/>
          </a:xfrm>
          <a:prstGeom prst="rect">
            <a:avLst/>
          </a:prstGeom>
          <a:noFill/>
          <a:ln/>
        </p:spPr>
        <p:txBody>
          <a:bodyPr wrap="square" rtlCol="0" anchor="ctr"/>
          <a:lstStyle/>
          <a:p>
            <a:r>
              <a:rPr sz="1250">
                <a:solidFill>
                  <a:srgbClr val="6B7390"/>
                </a:solidFill>
                <a:latin typeface="Calibri"/>
              </a:rPr>
              <a:t>व्याख्यानाचे नोंदी, फ्लॅशकार्ड्स आणि प्रश्नमंजुषांमध्ये स्वहस्ते रूपांतर करणे वेळखाऊ आणि विसंगत असते.</a:t>
            </a:r>
          </a:p>
        </p:txBody>
      </p:sp>
      <p:sp>
        <p:nvSpPr>
          <p:cNvPr id="24" name="Text 22"/>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25" name="Text 23"/>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मुख्य क्षमता · भाग 1</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कच्च्या माध्यमापासून वाचनीय प्रतिलेखापर्यंत</a:t>
            </a:r>
          </a:p>
        </p:txBody>
      </p:sp>
      <p:sp>
        <p:nvSpPr>
          <p:cNvPr id="4" name="Shape 2"/>
          <p:cNvSpPr/>
          <p:nvPr/>
        </p:nvSpPr>
        <p:spPr>
          <a:xfrm>
            <a:off x="548640" y="1828800"/>
            <a:ext cx="822960" cy="822960"/>
          </a:xfrm>
          <a:prstGeom prst="roundRect">
            <a:avLst>
              <a:gd name="adj" fmla="val 15556"/>
            </a:avLst>
          </a:prstGeom>
          <a:solidFill>
            <a:srgbClr val="1E2761"/>
          </a:solidFill>
          <a:ln/>
        </p:spPr>
        <p:txBody>
          <a:bodyPr/>
          <a:p/>
        </p:txBody>
      </p:sp>
      <p:sp>
        <p:nvSpPr>
          <p:cNvPr id="5" name="Text 3"/>
          <p:cNvSpPr/>
          <p:nvPr/>
        </p:nvSpPr>
        <p:spPr>
          <a:xfrm>
            <a:off x="548640" y="1828800"/>
            <a:ext cx="822960" cy="822960"/>
          </a:xfrm>
          <a:prstGeom prst="rect">
            <a:avLst/>
          </a:prstGeom>
          <a:noFill/>
          <a:ln/>
        </p:spPr>
        <p:txBody>
          <a:bodyPr wrap="square" lIns="0" tIns="0" rIns="0" bIns="0" rtlCol="0" anchor="ctr"/>
          <a:lstStyle/>
          <a:p>
            <a:r>
              <a:rPr sz="2200" b="1">
                <a:solidFill>
                  <a:srgbClr val="CADCFC"/>
                </a:solidFill>
                <a:latin typeface="Cambria"/>
              </a:rPr>
              <a:t>01</a:t>
            </a:r>
          </a:p>
        </p:txBody>
      </p:sp>
      <p:sp>
        <p:nvSpPr>
          <p:cNvPr id="6" name="Text 4"/>
          <p:cNvSpPr/>
          <p:nvPr/>
        </p:nvSpPr>
        <p:spPr>
          <a:xfrm>
            <a:off x="1600200" y="1783080"/>
            <a:ext cx="9875520" cy="365760"/>
          </a:xfrm>
          <a:prstGeom prst="rect">
            <a:avLst/>
          </a:prstGeom>
          <a:noFill/>
          <a:ln/>
        </p:spPr>
        <p:txBody>
          <a:bodyPr wrap="square" rtlCol="0" anchor="ctr"/>
          <a:lstStyle/>
          <a:p>
            <a:r>
              <a:rPr sz="1700" b="1">
                <a:solidFill>
                  <a:srgbClr val="1B1F3B"/>
                </a:solidFill>
                <a:latin typeface="Calibri"/>
              </a:rPr>
              <a:t>बुद्धिमान माध्यम प्रक्रिया</a:t>
            </a:r>
          </a:p>
        </p:txBody>
      </p:sp>
      <p:sp>
        <p:nvSpPr>
          <p:cNvPr id="7" name="Text 5"/>
          <p:cNvSpPr/>
          <p:nvPr/>
        </p:nvSpPr>
        <p:spPr>
          <a:xfrm>
            <a:off x="1600200" y="2194560"/>
            <a:ext cx="9875520" cy="502920"/>
          </a:xfrm>
          <a:prstGeom prst="rect">
            <a:avLst/>
          </a:prstGeom>
          <a:noFill/>
          <a:ln/>
        </p:spPr>
        <p:txBody>
          <a:bodyPr wrap="square" rtlCol="0" anchor="ctr"/>
          <a:lstStyle/>
          <a:p>
            <a:r>
              <a:rPr sz="1350">
                <a:solidFill>
                  <a:srgbClr val="6B7390"/>
                </a:solidFill>
                <a:latin typeface="Calibri"/>
              </a:rPr>
              <a:t>ऑडिओ/व्हिडिओ फाइल्स थेट अपलोड करा किंवा फक्त YouTube URL द्या.</a:t>
            </a:r>
          </a:p>
        </p:txBody>
      </p:sp>
      <p:sp>
        <p:nvSpPr>
          <p:cNvPr id="8" name="Shape 6"/>
          <p:cNvSpPr/>
          <p:nvPr/>
        </p:nvSpPr>
        <p:spPr>
          <a:xfrm>
            <a:off x="548640" y="3291840"/>
            <a:ext cx="822960" cy="822960"/>
          </a:xfrm>
          <a:prstGeom prst="roundRect">
            <a:avLst>
              <a:gd name="adj" fmla="val 15556"/>
            </a:avLst>
          </a:prstGeom>
          <a:solidFill>
            <a:srgbClr val="1E2761"/>
          </a:solidFill>
          <a:ln/>
        </p:spPr>
        <p:txBody>
          <a:bodyPr/>
          <a:p/>
        </p:txBody>
      </p:sp>
      <p:sp>
        <p:nvSpPr>
          <p:cNvPr id="9" name="Text 7"/>
          <p:cNvSpPr/>
          <p:nvPr/>
        </p:nvSpPr>
        <p:spPr>
          <a:xfrm>
            <a:off x="548640" y="3291840"/>
            <a:ext cx="822960" cy="822960"/>
          </a:xfrm>
          <a:prstGeom prst="rect">
            <a:avLst/>
          </a:prstGeom>
          <a:noFill/>
          <a:ln/>
        </p:spPr>
        <p:txBody>
          <a:bodyPr wrap="square" lIns="0" tIns="0" rIns="0" bIns="0" rtlCol="0" anchor="ctr"/>
          <a:lstStyle/>
          <a:p>
            <a:r>
              <a:rPr sz="2200" b="1">
                <a:solidFill>
                  <a:srgbClr val="CADCFC"/>
                </a:solidFill>
                <a:latin typeface="Cambria"/>
              </a:rPr>
              <a:t>02</a:t>
            </a:r>
          </a:p>
        </p:txBody>
      </p:sp>
      <p:sp>
        <p:nvSpPr>
          <p:cNvPr id="10" name="Text 8"/>
          <p:cNvSpPr/>
          <p:nvPr/>
        </p:nvSpPr>
        <p:spPr>
          <a:xfrm>
            <a:off x="1600200" y="3246120"/>
            <a:ext cx="9875520" cy="365760"/>
          </a:xfrm>
          <a:prstGeom prst="rect">
            <a:avLst/>
          </a:prstGeom>
          <a:noFill/>
          <a:ln/>
        </p:spPr>
        <p:txBody>
          <a:bodyPr wrap="square" rtlCol="0" anchor="ctr"/>
          <a:lstStyle/>
          <a:p>
            <a:r>
              <a:rPr sz="1700" b="1">
                <a:solidFill>
                  <a:srgbClr val="1B1F3B"/>
                </a:solidFill>
                <a:latin typeface="Calibri"/>
              </a:rPr>
              <a:t>स्वयंचलित भाषा ओळख</a:t>
            </a:r>
          </a:p>
        </p:txBody>
      </p:sp>
      <p:sp>
        <p:nvSpPr>
          <p:cNvPr id="11" name="Text 9"/>
          <p:cNvSpPr/>
          <p:nvPr/>
        </p:nvSpPr>
        <p:spPr>
          <a:xfrm>
            <a:off x="1600200" y="3657600"/>
            <a:ext cx="9875520" cy="502920"/>
          </a:xfrm>
          <a:prstGeom prst="rect">
            <a:avLst/>
          </a:prstGeom>
          <a:noFill/>
          <a:ln/>
        </p:spPr>
        <p:txBody>
          <a:bodyPr wrap="square" rtlCol="0" anchor="ctr"/>
          <a:lstStyle/>
          <a:p>
            <a:r>
              <a:rPr sz="1350">
                <a:solidFill>
                  <a:srgbClr val="6B7390"/>
                </a:solidFill>
                <a:latin typeface="Calibri"/>
              </a:rPr>
              <a:t>बोलली जाणारी भाषा स्वयंचलितपणे ओळखते आणि मूळ प्रतिलेख जतन करते.</a:t>
            </a:r>
          </a:p>
        </p:txBody>
      </p:sp>
      <p:sp>
        <p:nvSpPr>
          <p:cNvPr id="12" name="Shape 10"/>
          <p:cNvSpPr/>
          <p:nvPr/>
        </p:nvSpPr>
        <p:spPr>
          <a:xfrm>
            <a:off x="548640" y="4754880"/>
            <a:ext cx="822960" cy="822960"/>
          </a:xfrm>
          <a:prstGeom prst="roundRect">
            <a:avLst>
              <a:gd name="adj" fmla="val 15556"/>
            </a:avLst>
          </a:prstGeom>
          <a:solidFill>
            <a:srgbClr val="1E2761"/>
          </a:solidFill>
          <a:ln/>
        </p:spPr>
        <p:txBody>
          <a:bodyPr/>
          <a:p/>
        </p:txBody>
      </p:sp>
      <p:sp>
        <p:nvSpPr>
          <p:cNvPr id="13" name="Text 11"/>
          <p:cNvSpPr/>
          <p:nvPr/>
        </p:nvSpPr>
        <p:spPr>
          <a:xfrm>
            <a:off x="548640" y="4754880"/>
            <a:ext cx="822960" cy="822960"/>
          </a:xfrm>
          <a:prstGeom prst="rect">
            <a:avLst/>
          </a:prstGeom>
          <a:noFill/>
          <a:ln/>
        </p:spPr>
        <p:txBody>
          <a:bodyPr wrap="square" lIns="0" tIns="0" rIns="0" bIns="0" rtlCol="0" anchor="ctr"/>
          <a:lstStyle/>
          <a:p>
            <a:r>
              <a:rPr sz="2200" b="1">
                <a:solidFill>
                  <a:srgbClr val="CADCFC"/>
                </a:solidFill>
                <a:latin typeface="Cambria"/>
              </a:rPr>
              <a:t>03</a:t>
            </a:r>
          </a:p>
        </p:txBody>
      </p:sp>
      <p:sp>
        <p:nvSpPr>
          <p:cNvPr id="14" name="Text 12"/>
          <p:cNvSpPr/>
          <p:nvPr/>
        </p:nvSpPr>
        <p:spPr>
          <a:xfrm>
            <a:off x="1600200" y="4709160"/>
            <a:ext cx="9875520" cy="365760"/>
          </a:xfrm>
          <a:prstGeom prst="rect">
            <a:avLst/>
          </a:prstGeom>
          <a:noFill/>
          <a:ln/>
        </p:spPr>
        <p:txBody>
          <a:bodyPr wrap="square" rtlCol="0" anchor="ctr"/>
          <a:lstStyle/>
          <a:p>
            <a:r>
              <a:rPr sz="1700" b="1">
                <a:solidFill>
                  <a:srgbClr val="1B1F3B"/>
                </a:solidFill>
                <a:latin typeface="Calibri"/>
              </a:rPr>
              <a:t>मागणीनुसार भाषांतर</a:t>
            </a:r>
          </a:p>
        </p:txBody>
      </p:sp>
      <p:sp>
        <p:nvSpPr>
          <p:cNvPr id="15" name="Text 13"/>
          <p:cNvSpPr/>
          <p:nvPr/>
        </p:nvSpPr>
        <p:spPr>
          <a:xfrm>
            <a:off x="1600200" y="5120640"/>
            <a:ext cx="9875520" cy="502920"/>
          </a:xfrm>
          <a:prstGeom prst="rect">
            <a:avLst/>
          </a:prstGeom>
          <a:noFill/>
          <a:ln/>
        </p:spPr>
        <p:txBody>
          <a:bodyPr wrap="square" rtlCol="0" anchor="ctr"/>
          <a:lstStyle/>
          <a:p>
            <a:r>
              <a:rPr sz="1350">
                <a:solidFill>
                  <a:srgbClr val="6B7390"/>
                </a:solidFill>
                <a:latin typeface="Calibri"/>
              </a:rPr>
              <a:t>इंग्रजीतर प्रतिलेखांचे एका क्लिकमध्ये इंग्रजीत भाषांतर करते — आणि प्रतिलेख आधीपासूनच इंग्रजीत असल्यास ही प्रक्रिया पूर्णपणे वगळते.</a:t>
            </a:r>
          </a:p>
        </p:txBody>
      </p:sp>
      <p:sp>
        <p:nvSpPr>
          <p:cNvPr id="16" name="Text 14"/>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17" name="Text 15"/>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मुख्य क्षमता · भाग 2</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प्रतिलेखापासून प्रभुत्वापर्यंत</a:t>
            </a:r>
          </a:p>
        </p:txBody>
      </p:sp>
      <p:sp>
        <p:nvSpPr>
          <p:cNvPr id="4" name="Shape 2"/>
          <p:cNvSpPr/>
          <p:nvPr/>
        </p:nvSpPr>
        <p:spPr>
          <a:xfrm>
            <a:off x="548640" y="1737360"/>
            <a:ext cx="5349240" cy="2011680"/>
          </a:xfrm>
          <a:prstGeom prst="roundRect">
            <a:avLst>
              <a:gd name="adj" fmla="val 4545"/>
            </a:avLst>
          </a:prstGeom>
          <a:solidFill>
            <a:srgbClr val="F4F6FB"/>
          </a:solidFill>
          <a:ln/>
        </p:spPr>
        <p:txBody>
          <a:bodyPr/>
          <a:p/>
        </p:txBody>
      </p:sp>
      <p:sp>
        <p:nvSpPr>
          <p:cNvPr id="5" name="Shape 3"/>
          <p:cNvSpPr/>
          <p:nvPr/>
        </p:nvSpPr>
        <p:spPr>
          <a:xfrm>
            <a:off x="868680" y="2057400"/>
            <a:ext cx="502920" cy="502920"/>
          </a:xfrm>
          <a:prstGeom prst="ellipse">
            <a:avLst/>
          </a:prstGeom>
          <a:solidFill>
            <a:srgbClr val="3E6CB5"/>
          </a:solidFill>
          <a:ln/>
        </p:spPr>
        <p:txBody>
          <a:bodyPr/>
          <a:p/>
        </p:txBody>
      </p:sp>
      <p:sp>
        <p:nvSpPr>
          <p:cNvPr id="6" name="Text 4"/>
          <p:cNvSpPr/>
          <p:nvPr/>
        </p:nvSpPr>
        <p:spPr>
          <a:xfrm>
            <a:off x="868680" y="2057400"/>
            <a:ext cx="502920" cy="502920"/>
          </a:xfrm>
          <a:prstGeom prst="rect">
            <a:avLst/>
          </a:prstGeom>
          <a:noFill/>
          <a:ln/>
        </p:spPr>
        <p:txBody>
          <a:bodyPr wrap="square" lIns="0" tIns="0" rIns="0" bIns="0" rtlCol="0" anchor="ctr"/>
          <a:lstStyle/>
          <a:p>
            <a:r>
              <a:rPr sz="1800" b="1">
                <a:solidFill>
                  <a:srgbClr val="FFFFFF"/>
                </a:solidFill>
                <a:latin typeface="Cambria"/>
              </a:rPr>
              <a:t>1</a:t>
            </a:r>
          </a:p>
        </p:txBody>
      </p:sp>
      <p:sp>
        <p:nvSpPr>
          <p:cNvPr id="7" name="Text 5"/>
          <p:cNvSpPr/>
          <p:nvPr/>
        </p:nvSpPr>
        <p:spPr>
          <a:xfrm>
            <a:off x="1554480" y="2011680"/>
            <a:ext cx="4069080" cy="365760"/>
          </a:xfrm>
          <a:prstGeom prst="rect">
            <a:avLst/>
          </a:prstGeom>
          <a:noFill/>
          <a:ln/>
        </p:spPr>
        <p:txBody>
          <a:bodyPr wrap="square" rtlCol="0" anchor="ctr"/>
          <a:lstStyle/>
          <a:p>
            <a:r>
              <a:rPr sz="1600" b="1">
                <a:solidFill>
                  <a:srgbClr val="1B1F3B"/>
                </a:solidFill>
                <a:latin typeface="Calibri"/>
              </a:rPr>
              <a:t>अध्ययन साहित्य निर्मिती</a:t>
            </a:r>
          </a:p>
        </p:txBody>
      </p:sp>
      <p:sp>
        <p:nvSpPr>
          <p:cNvPr id="8" name="Text 6"/>
          <p:cNvSpPr/>
          <p:nvPr/>
        </p:nvSpPr>
        <p:spPr>
          <a:xfrm>
            <a:off x="868680" y="2651760"/>
            <a:ext cx="4709160" cy="960120"/>
          </a:xfrm>
          <a:prstGeom prst="rect">
            <a:avLst/>
          </a:prstGeom>
          <a:noFill/>
          <a:ln/>
        </p:spPr>
        <p:txBody>
          <a:bodyPr wrap="square" rtlCol="0" anchor="ctr"/>
          <a:lstStyle/>
          <a:p>
            <a:r>
              <a:rPr sz="1250">
                <a:solidFill>
                  <a:srgbClr val="6B7390"/>
                </a:solidFill>
                <a:latin typeface="Calibri"/>
              </a:rPr>
              <a:t>संक्षिप्त सारांश, संरचित अभ्यास-नोंदी, फ्लॅशकार्ड्स, प्रमुख संकल्पना आणि व्याख्या.</a:t>
            </a:r>
          </a:p>
        </p:txBody>
      </p:sp>
      <p:sp>
        <p:nvSpPr>
          <p:cNvPr id="9" name="Shape 7"/>
          <p:cNvSpPr/>
          <p:nvPr/>
        </p:nvSpPr>
        <p:spPr>
          <a:xfrm>
            <a:off x="6263640" y="1737360"/>
            <a:ext cx="5349240" cy="2011680"/>
          </a:xfrm>
          <a:prstGeom prst="roundRect">
            <a:avLst>
              <a:gd name="adj" fmla="val 4545"/>
            </a:avLst>
          </a:prstGeom>
          <a:solidFill>
            <a:srgbClr val="F4F6FB"/>
          </a:solidFill>
          <a:ln/>
        </p:spPr>
        <p:txBody>
          <a:bodyPr/>
          <a:p/>
        </p:txBody>
      </p:sp>
      <p:sp>
        <p:nvSpPr>
          <p:cNvPr id="10" name="Shape 8"/>
          <p:cNvSpPr/>
          <p:nvPr/>
        </p:nvSpPr>
        <p:spPr>
          <a:xfrm>
            <a:off x="6583680" y="2057400"/>
            <a:ext cx="502920" cy="502920"/>
          </a:xfrm>
          <a:prstGeom prst="ellipse">
            <a:avLst/>
          </a:prstGeom>
          <a:solidFill>
            <a:srgbClr val="3E6CB5"/>
          </a:solidFill>
          <a:ln/>
        </p:spPr>
        <p:txBody>
          <a:bodyPr/>
          <a:p/>
        </p:txBody>
      </p:sp>
      <p:sp>
        <p:nvSpPr>
          <p:cNvPr id="11" name="Text 9"/>
          <p:cNvSpPr/>
          <p:nvPr/>
        </p:nvSpPr>
        <p:spPr>
          <a:xfrm>
            <a:off x="6583680" y="2057400"/>
            <a:ext cx="502920" cy="502920"/>
          </a:xfrm>
          <a:prstGeom prst="rect">
            <a:avLst/>
          </a:prstGeom>
          <a:noFill/>
          <a:ln/>
        </p:spPr>
        <p:txBody>
          <a:bodyPr wrap="square" lIns="0" tIns="0" rIns="0" bIns="0" rtlCol="0" anchor="ctr"/>
          <a:lstStyle/>
          <a:p>
            <a:r>
              <a:rPr sz="1800" b="1">
                <a:solidFill>
                  <a:srgbClr val="FFFFFF"/>
                </a:solidFill>
                <a:latin typeface="Cambria"/>
              </a:rPr>
              <a:t>2</a:t>
            </a:r>
          </a:p>
        </p:txBody>
      </p:sp>
      <p:sp>
        <p:nvSpPr>
          <p:cNvPr id="12" name="Text 10"/>
          <p:cNvSpPr/>
          <p:nvPr/>
        </p:nvSpPr>
        <p:spPr>
          <a:xfrm>
            <a:off x="7269480" y="2011680"/>
            <a:ext cx="4069080" cy="365760"/>
          </a:xfrm>
          <a:prstGeom prst="rect">
            <a:avLst/>
          </a:prstGeom>
          <a:noFill/>
          <a:ln/>
        </p:spPr>
        <p:txBody>
          <a:bodyPr wrap="square" rtlCol="0" anchor="ctr"/>
          <a:lstStyle/>
          <a:p>
            <a:r>
              <a:rPr sz="1600" b="1">
                <a:solidFill>
                  <a:srgbClr val="1B1F3B"/>
                </a:solidFill>
                <a:latin typeface="Calibri"/>
              </a:rPr>
              <a:t>परस्परसंवादी चॅट</a:t>
            </a:r>
          </a:p>
        </p:txBody>
      </p:sp>
      <p:sp>
        <p:nvSpPr>
          <p:cNvPr id="13" name="Text 11"/>
          <p:cNvSpPr/>
          <p:nvPr/>
        </p:nvSpPr>
        <p:spPr>
          <a:xfrm>
            <a:off x="6583680" y="2651760"/>
            <a:ext cx="4709160" cy="960120"/>
          </a:xfrm>
          <a:prstGeom prst="rect">
            <a:avLst/>
          </a:prstGeom>
          <a:noFill/>
          <a:ln/>
        </p:spPr>
        <p:txBody>
          <a:bodyPr wrap="square" rtlCol="0" anchor="ctr"/>
          <a:lstStyle/>
          <a:p>
            <a:r>
              <a:rPr sz="1250">
                <a:solidFill>
                  <a:srgbClr val="6B7390"/>
                </a:solidFill>
                <a:latin typeface="Calibri"/>
              </a:rPr>
              <a:t>अपलोड केलेल्या सामग्रीवर आधारित रिट्रीव्हल-ऑगमेंटेड जनरेशन (RAG) वापरून शिकणाऱ्यांच्या प्रश्नांची उत्तरे देते.</a:t>
            </a:r>
          </a:p>
        </p:txBody>
      </p:sp>
      <p:sp>
        <p:nvSpPr>
          <p:cNvPr id="14" name="Shape 12"/>
          <p:cNvSpPr/>
          <p:nvPr/>
        </p:nvSpPr>
        <p:spPr>
          <a:xfrm>
            <a:off x="548640" y="4069080"/>
            <a:ext cx="5349240" cy="2011680"/>
          </a:xfrm>
          <a:prstGeom prst="roundRect">
            <a:avLst>
              <a:gd name="adj" fmla="val 4545"/>
            </a:avLst>
          </a:prstGeom>
          <a:solidFill>
            <a:srgbClr val="F4F6FB"/>
          </a:solidFill>
          <a:ln/>
        </p:spPr>
        <p:txBody>
          <a:bodyPr/>
          <a:p/>
        </p:txBody>
      </p:sp>
      <p:sp>
        <p:nvSpPr>
          <p:cNvPr id="15" name="Shape 13"/>
          <p:cNvSpPr/>
          <p:nvPr/>
        </p:nvSpPr>
        <p:spPr>
          <a:xfrm>
            <a:off x="868680" y="4389120"/>
            <a:ext cx="502920" cy="502920"/>
          </a:xfrm>
          <a:prstGeom prst="ellipse">
            <a:avLst/>
          </a:prstGeom>
          <a:solidFill>
            <a:srgbClr val="3E6CB5"/>
          </a:solidFill>
          <a:ln/>
        </p:spPr>
        <p:txBody>
          <a:bodyPr/>
          <a:p/>
        </p:txBody>
      </p:sp>
      <p:sp>
        <p:nvSpPr>
          <p:cNvPr id="16" name="Text 14"/>
          <p:cNvSpPr/>
          <p:nvPr/>
        </p:nvSpPr>
        <p:spPr>
          <a:xfrm>
            <a:off x="868680" y="4389120"/>
            <a:ext cx="502920" cy="502920"/>
          </a:xfrm>
          <a:prstGeom prst="rect">
            <a:avLst/>
          </a:prstGeom>
          <a:noFill/>
          <a:ln/>
        </p:spPr>
        <p:txBody>
          <a:bodyPr wrap="square" lIns="0" tIns="0" rIns="0" bIns="0" rtlCol="0" anchor="ctr"/>
          <a:lstStyle/>
          <a:p>
            <a:r>
              <a:rPr sz="1800" b="1">
                <a:solidFill>
                  <a:srgbClr val="FFFFFF"/>
                </a:solidFill>
                <a:latin typeface="Cambria"/>
              </a:rPr>
              <a:t>3</a:t>
            </a:r>
          </a:p>
        </p:txBody>
      </p:sp>
      <p:sp>
        <p:nvSpPr>
          <p:cNvPr id="17" name="Text 15"/>
          <p:cNvSpPr/>
          <p:nvPr/>
        </p:nvSpPr>
        <p:spPr>
          <a:xfrm>
            <a:off x="1554480" y="4343400"/>
            <a:ext cx="4069080" cy="365760"/>
          </a:xfrm>
          <a:prstGeom prst="rect">
            <a:avLst/>
          </a:prstGeom>
          <a:noFill/>
          <a:ln/>
        </p:spPr>
        <p:txBody>
          <a:bodyPr wrap="square" rtlCol="0" anchor="ctr"/>
          <a:lstStyle/>
          <a:p>
            <a:r>
              <a:rPr sz="1600" b="1">
                <a:solidFill>
                  <a:srgbClr val="1B1F3B"/>
                </a:solidFill>
                <a:latin typeface="Calibri"/>
              </a:rPr>
              <a:t>प्रश्नमंजुषा आणि मूल्यमापन</a:t>
            </a:r>
          </a:p>
        </p:txBody>
      </p:sp>
      <p:sp>
        <p:nvSpPr>
          <p:cNvPr id="18" name="Text 16"/>
          <p:cNvSpPr/>
          <p:nvPr/>
        </p:nvSpPr>
        <p:spPr>
          <a:xfrm>
            <a:off x="868680" y="4983480"/>
            <a:ext cx="4709160" cy="960120"/>
          </a:xfrm>
          <a:prstGeom prst="rect">
            <a:avLst/>
          </a:prstGeom>
          <a:noFill/>
          <a:ln/>
        </p:spPr>
        <p:txBody>
          <a:bodyPr wrap="square" rtlCol="0" anchor="ctr"/>
          <a:lstStyle/>
          <a:p>
            <a:r>
              <a:rPr sz="1250">
                <a:solidFill>
                  <a:srgbClr val="6B7390"/>
                </a:solidFill>
                <a:latin typeface="Calibri"/>
              </a:rPr>
              <a:t>ज्ञान किती लक्षात राहिले आहे हे तपासण्यासाठी सामग्रीवर आधारित बहुपर्यायी प्रश्नमंजुषा तयार करते.</a:t>
            </a:r>
          </a:p>
        </p:txBody>
      </p:sp>
      <p:sp>
        <p:nvSpPr>
          <p:cNvPr id="19" name="Shape 17"/>
          <p:cNvSpPr/>
          <p:nvPr/>
        </p:nvSpPr>
        <p:spPr>
          <a:xfrm>
            <a:off x="6263640" y="4069080"/>
            <a:ext cx="5349240" cy="2011680"/>
          </a:xfrm>
          <a:prstGeom prst="roundRect">
            <a:avLst>
              <a:gd name="adj" fmla="val 4545"/>
            </a:avLst>
          </a:prstGeom>
          <a:solidFill>
            <a:srgbClr val="F4F6FB"/>
          </a:solidFill>
          <a:ln/>
        </p:spPr>
        <p:txBody>
          <a:bodyPr/>
          <a:p/>
        </p:txBody>
      </p:sp>
      <p:sp>
        <p:nvSpPr>
          <p:cNvPr id="20" name="Shape 18"/>
          <p:cNvSpPr/>
          <p:nvPr/>
        </p:nvSpPr>
        <p:spPr>
          <a:xfrm>
            <a:off x="6583680" y="4389120"/>
            <a:ext cx="502920" cy="502920"/>
          </a:xfrm>
          <a:prstGeom prst="ellipse">
            <a:avLst/>
          </a:prstGeom>
          <a:solidFill>
            <a:srgbClr val="3E6CB5"/>
          </a:solidFill>
          <a:ln/>
        </p:spPr>
        <p:txBody>
          <a:bodyPr/>
          <a:p/>
        </p:txBody>
      </p:sp>
      <p:sp>
        <p:nvSpPr>
          <p:cNvPr id="21" name="Text 19"/>
          <p:cNvSpPr/>
          <p:nvPr/>
        </p:nvSpPr>
        <p:spPr>
          <a:xfrm>
            <a:off x="6583680" y="4389120"/>
            <a:ext cx="502920" cy="502920"/>
          </a:xfrm>
          <a:prstGeom prst="rect">
            <a:avLst/>
          </a:prstGeom>
          <a:noFill/>
          <a:ln/>
        </p:spPr>
        <p:txBody>
          <a:bodyPr wrap="square" lIns="0" tIns="0" rIns="0" bIns="0" rtlCol="0" anchor="ctr"/>
          <a:lstStyle/>
          <a:p>
            <a:r>
              <a:rPr sz="1800" b="1">
                <a:solidFill>
                  <a:srgbClr val="FFFFFF"/>
                </a:solidFill>
                <a:latin typeface="Cambria"/>
              </a:rPr>
              <a:t>4</a:t>
            </a:r>
          </a:p>
        </p:txBody>
      </p:sp>
      <p:sp>
        <p:nvSpPr>
          <p:cNvPr id="22" name="Text 20"/>
          <p:cNvSpPr/>
          <p:nvPr/>
        </p:nvSpPr>
        <p:spPr>
          <a:xfrm>
            <a:off x="7269480" y="4343400"/>
            <a:ext cx="4069080" cy="365760"/>
          </a:xfrm>
          <a:prstGeom prst="rect">
            <a:avLst/>
          </a:prstGeom>
          <a:noFill/>
          <a:ln/>
        </p:spPr>
        <p:txBody>
          <a:bodyPr wrap="square" rtlCol="0" anchor="ctr"/>
          <a:lstStyle/>
          <a:p>
            <a:r>
              <a:rPr sz="1600" b="1">
                <a:solidFill>
                  <a:srgbClr val="1B1F3B"/>
                </a:solidFill>
                <a:latin typeface="Calibri"/>
              </a:rPr>
              <a:t>आकलनाचे अंदाज</a:t>
            </a:r>
          </a:p>
        </p:txBody>
      </p:sp>
      <p:sp>
        <p:nvSpPr>
          <p:cNvPr id="23" name="Text 21"/>
          <p:cNvSpPr/>
          <p:nvPr/>
        </p:nvSpPr>
        <p:spPr>
          <a:xfrm>
            <a:off x="6583680" y="4983480"/>
            <a:ext cx="4709160" cy="960120"/>
          </a:xfrm>
          <a:prstGeom prst="rect">
            <a:avLst/>
          </a:prstGeom>
          <a:noFill/>
          <a:ln/>
        </p:spPr>
        <p:txBody>
          <a:bodyPr wrap="square" rtlCol="0" anchor="ctr"/>
          <a:lstStyle/>
          <a:p>
            <a:r>
              <a:rPr sz="1250">
                <a:solidFill>
                  <a:srgbClr val="6B7390"/>
                </a:solidFill>
                <a:latin typeface="Calibri"/>
              </a:rPr>
              <a:t>प्रश्नमंजुषेतील कामगिरीचे मूल्यमापन करते, कमकुवत संकल्पना दर्शवते आणि पुनरावृत्तीसाठी विषय सुचवते.</a:t>
            </a:r>
          </a:p>
        </p:txBody>
      </p:sp>
      <p:sp>
        <p:nvSpPr>
          <p:cNvPr id="24" name="Text 22"/>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25" name="Text 23"/>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अंतर्गत रचना</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तंत्रज्ञान संच</a:t>
            </a:r>
          </a:p>
        </p:txBody>
      </p:sp>
      <p:sp>
        <p:nvSpPr>
          <p:cNvPr id="4" name="Shape 2"/>
          <p:cNvSpPr/>
          <p:nvPr/>
        </p:nvSpPr>
        <p:spPr>
          <a:xfrm>
            <a:off x="548640" y="1691640"/>
            <a:ext cx="10927080" cy="457200"/>
          </a:xfrm>
          <a:prstGeom prst="rect">
            <a:avLst/>
          </a:prstGeom>
          <a:solidFill>
            <a:srgbClr val="1E2761"/>
          </a:solidFill>
          <a:ln/>
        </p:spPr>
        <p:txBody>
          <a:bodyPr/>
          <a:p/>
        </p:txBody>
      </p:sp>
      <p:sp>
        <p:nvSpPr>
          <p:cNvPr id="5" name="Text 3"/>
          <p:cNvSpPr/>
          <p:nvPr/>
        </p:nvSpPr>
        <p:spPr>
          <a:xfrm>
            <a:off x="731520" y="1691640"/>
            <a:ext cx="3840480" cy="457200"/>
          </a:xfrm>
          <a:prstGeom prst="rect">
            <a:avLst/>
          </a:prstGeom>
          <a:noFill/>
          <a:ln/>
        </p:spPr>
        <p:txBody>
          <a:bodyPr wrap="square" lIns="0" tIns="0" rIns="0" bIns="0" rtlCol="0" anchor="ctr"/>
          <a:lstStyle/>
          <a:p>
            <a:r>
              <a:rPr sz="1200" b="1">
                <a:solidFill>
                  <a:srgbClr val="FFFFFF"/>
                </a:solidFill>
                <a:latin typeface="Calibri"/>
              </a:rPr>
              <a:t>क्षेत्र</a:t>
            </a:r>
          </a:p>
        </p:txBody>
      </p:sp>
      <p:sp>
        <p:nvSpPr>
          <p:cNvPr id="6" name="Text 4"/>
          <p:cNvSpPr/>
          <p:nvPr/>
        </p:nvSpPr>
        <p:spPr>
          <a:xfrm>
            <a:off x="4709160" y="1691640"/>
            <a:ext cx="6903720" cy="457200"/>
          </a:xfrm>
          <a:prstGeom prst="rect">
            <a:avLst/>
          </a:prstGeom>
          <a:noFill/>
          <a:ln/>
        </p:spPr>
        <p:txBody>
          <a:bodyPr wrap="square" lIns="0" tIns="0" rIns="0" bIns="0" rtlCol="0" anchor="ctr"/>
          <a:lstStyle/>
          <a:p>
            <a:r>
              <a:rPr sz="1200" b="1">
                <a:solidFill>
                  <a:srgbClr val="FFFFFF"/>
                </a:solidFill>
                <a:latin typeface="Calibri"/>
              </a:rPr>
              <a:t>तंत्रज्ञान</a:t>
            </a:r>
          </a:p>
        </p:txBody>
      </p:sp>
      <p:sp>
        <p:nvSpPr>
          <p:cNvPr id="7" name="Shape 5"/>
          <p:cNvSpPr/>
          <p:nvPr/>
        </p:nvSpPr>
        <p:spPr>
          <a:xfrm>
            <a:off x="548640" y="2148840"/>
            <a:ext cx="10927080" cy="603504"/>
          </a:xfrm>
          <a:prstGeom prst="rect">
            <a:avLst/>
          </a:prstGeom>
          <a:solidFill>
            <a:srgbClr val="F4F6FB"/>
          </a:solidFill>
          <a:ln/>
        </p:spPr>
        <p:txBody>
          <a:bodyPr/>
          <a:p/>
        </p:txBody>
      </p:sp>
      <p:sp>
        <p:nvSpPr>
          <p:cNvPr id="8" name="Text 6"/>
          <p:cNvSpPr/>
          <p:nvPr/>
        </p:nvSpPr>
        <p:spPr>
          <a:xfrm>
            <a:off x="731520" y="2148840"/>
            <a:ext cx="3749040" cy="603504"/>
          </a:xfrm>
          <a:prstGeom prst="rect">
            <a:avLst/>
          </a:prstGeom>
          <a:noFill/>
          <a:ln/>
        </p:spPr>
        <p:txBody>
          <a:bodyPr wrap="square" lIns="0" tIns="0" rIns="0" bIns="0" rtlCol="0" anchor="ctr"/>
          <a:lstStyle/>
          <a:p>
            <a:r>
              <a:rPr sz="1250" b="1">
                <a:solidFill>
                  <a:srgbClr val="1B1F3B"/>
                </a:solidFill>
                <a:latin typeface="Calibri"/>
              </a:rPr>
              <a:t>फ्रंटएंड</a:t>
            </a:r>
          </a:p>
        </p:txBody>
      </p:sp>
      <p:sp>
        <p:nvSpPr>
          <p:cNvPr id="9" name="Text 7"/>
          <p:cNvSpPr/>
          <p:nvPr/>
        </p:nvSpPr>
        <p:spPr>
          <a:xfrm>
            <a:off x="4709160" y="2148840"/>
            <a:ext cx="6720840" cy="603504"/>
          </a:xfrm>
          <a:prstGeom prst="rect">
            <a:avLst/>
          </a:prstGeom>
          <a:noFill/>
          <a:ln/>
        </p:spPr>
        <p:txBody>
          <a:bodyPr wrap="square" lIns="0" tIns="0" rIns="0" bIns="0" rtlCol="0" anchor="ctr"/>
          <a:lstStyle/>
          <a:p>
            <a:r>
              <a:rPr sz="1250">
                <a:solidFill>
                  <a:srgbClr val="6B7390"/>
                </a:solidFill>
                <a:latin typeface="Calibri"/>
              </a:rPr>
              <a:t>React + Vite, जागतिक गडद/फिकट थीम</a:t>
            </a:r>
          </a:p>
        </p:txBody>
      </p:sp>
      <p:sp>
        <p:nvSpPr>
          <p:cNvPr id="10" name="Text 8"/>
          <p:cNvSpPr/>
          <p:nvPr/>
        </p:nvSpPr>
        <p:spPr>
          <a:xfrm>
            <a:off x="731520" y="2752344"/>
            <a:ext cx="3749040" cy="603504"/>
          </a:xfrm>
          <a:prstGeom prst="rect">
            <a:avLst/>
          </a:prstGeom>
          <a:noFill/>
          <a:ln/>
        </p:spPr>
        <p:txBody>
          <a:bodyPr wrap="square" lIns="0" tIns="0" rIns="0" bIns="0" rtlCol="0" anchor="ctr"/>
          <a:lstStyle/>
          <a:p>
            <a:r>
              <a:rPr sz="1250" b="1">
                <a:solidFill>
                  <a:srgbClr val="1B1F3B"/>
                </a:solidFill>
                <a:latin typeface="Calibri"/>
              </a:rPr>
              <a:t>प्राथमिक बॅकएंड</a:t>
            </a:r>
          </a:p>
        </p:txBody>
      </p:sp>
      <p:sp>
        <p:nvSpPr>
          <p:cNvPr id="11" name="Text 9"/>
          <p:cNvSpPr/>
          <p:nvPr/>
        </p:nvSpPr>
        <p:spPr>
          <a:xfrm>
            <a:off x="4709160" y="2752344"/>
            <a:ext cx="6720840" cy="603504"/>
          </a:xfrm>
          <a:prstGeom prst="rect">
            <a:avLst/>
          </a:prstGeom>
          <a:noFill/>
          <a:ln/>
        </p:spPr>
        <p:txBody>
          <a:bodyPr wrap="square" lIns="0" tIns="0" rIns="0" bIns="0" rtlCol="0" anchor="ctr"/>
          <a:lstStyle/>
          <a:p>
            <a:r>
              <a:rPr sz="1250">
                <a:solidFill>
                  <a:srgbClr val="6B7390"/>
                </a:solidFill>
                <a:latin typeface="Calibri"/>
              </a:rPr>
              <a:t>Node.js + Express (JWT प्रमाणीकरण)</a:t>
            </a:r>
          </a:p>
        </p:txBody>
      </p:sp>
      <p:sp>
        <p:nvSpPr>
          <p:cNvPr id="12" name="Shape 10"/>
          <p:cNvSpPr/>
          <p:nvPr/>
        </p:nvSpPr>
        <p:spPr>
          <a:xfrm>
            <a:off x="548640" y="3355848"/>
            <a:ext cx="10927080" cy="603504"/>
          </a:xfrm>
          <a:prstGeom prst="rect">
            <a:avLst/>
          </a:prstGeom>
          <a:solidFill>
            <a:srgbClr val="F4F6FB"/>
          </a:solidFill>
          <a:ln/>
        </p:spPr>
        <p:txBody>
          <a:bodyPr/>
          <a:p/>
        </p:txBody>
      </p:sp>
      <p:sp>
        <p:nvSpPr>
          <p:cNvPr id="13" name="Text 11"/>
          <p:cNvSpPr/>
          <p:nvPr/>
        </p:nvSpPr>
        <p:spPr>
          <a:xfrm>
            <a:off x="731520" y="3355848"/>
            <a:ext cx="3749040" cy="603504"/>
          </a:xfrm>
          <a:prstGeom prst="rect">
            <a:avLst/>
          </a:prstGeom>
          <a:noFill/>
          <a:ln/>
        </p:spPr>
        <p:txBody>
          <a:bodyPr wrap="square" lIns="0" tIns="0" rIns="0" bIns="0" rtlCol="0" anchor="ctr"/>
          <a:lstStyle/>
          <a:p>
            <a:r>
              <a:rPr sz="1250" b="1">
                <a:solidFill>
                  <a:srgbClr val="1B1F3B"/>
                </a:solidFill>
                <a:latin typeface="Calibri"/>
              </a:rPr>
              <a:t>डेटाबेस</a:t>
            </a:r>
          </a:p>
        </p:txBody>
      </p:sp>
      <p:sp>
        <p:nvSpPr>
          <p:cNvPr id="14" name="Text 12"/>
          <p:cNvSpPr/>
          <p:nvPr/>
        </p:nvSpPr>
        <p:spPr>
          <a:xfrm>
            <a:off x="4709160" y="3355848"/>
            <a:ext cx="6720840" cy="603504"/>
          </a:xfrm>
          <a:prstGeom prst="rect">
            <a:avLst/>
          </a:prstGeom>
          <a:noFill/>
          <a:ln/>
        </p:spPr>
        <p:txBody>
          <a:bodyPr wrap="square" lIns="0" tIns="0" rIns="0" bIns="0" rtlCol="0" anchor="ctr"/>
          <a:lstStyle/>
          <a:p>
            <a:r>
              <a:rPr sz="1250">
                <a:solidFill>
                  <a:srgbClr val="6B7390"/>
                </a:solidFill>
                <a:latin typeface="Calibri"/>
              </a:rPr>
              <a:t>MongoDB</a:t>
            </a:r>
          </a:p>
        </p:txBody>
      </p:sp>
      <p:sp>
        <p:nvSpPr>
          <p:cNvPr id="15" name="Text 13"/>
          <p:cNvSpPr/>
          <p:nvPr/>
        </p:nvSpPr>
        <p:spPr>
          <a:xfrm>
            <a:off x="731520" y="3959352"/>
            <a:ext cx="3749040" cy="603504"/>
          </a:xfrm>
          <a:prstGeom prst="rect">
            <a:avLst/>
          </a:prstGeom>
          <a:noFill/>
          <a:ln/>
        </p:spPr>
        <p:txBody>
          <a:bodyPr wrap="square" lIns="0" tIns="0" rIns="0" bIns="0" rtlCol="0" anchor="ctr"/>
          <a:lstStyle/>
          <a:p>
            <a:r>
              <a:rPr sz="1250" b="1">
                <a:solidFill>
                  <a:srgbClr val="1B1F3B"/>
                </a:solidFill>
                <a:latin typeface="Calibri"/>
              </a:rPr>
              <a:t>AI प्रक्रिया सेवा</a:t>
            </a:r>
          </a:p>
        </p:txBody>
      </p:sp>
      <p:sp>
        <p:nvSpPr>
          <p:cNvPr id="16" name="Text 14"/>
          <p:cNvSpPr/>
          <p:nvPr/>
        </p:nvSpPr>
        <p:spPr>
          <a:xfrm>
            <a:off x="4709160" y="3959352"/>
            <a:ext cx="6720840" cy="603504"/>
          </a:xfrm>
          <a:prstGeom prst="rect">
            <a:avLst/>
          </a:prstGeom>
          <a:noFill/>
          <a:ln/>
        </p:spPr>
        <p:txBody>
          <a:bodyPr wrap="square" lIns="0" tIns="0" rIns="0" bIns="0" rtlCol="0" anchor="ctr"/>
          <a:lstStyle/>
          <a:p>
            <a:r>
              <a:rPr sz="1250">
                <a:solidFill>
                  <a:srgbClr val="6B7390"/>
                </a:solidFill>
                <a:latin typeface="Calibri"/>
              </a:rPr>
              <a:t>Python + FastAPI</a:t>
            </a:r>
          </a:p>
        </p:txBody>
      </p:sp>
      <p:sp>
        <p:nvSpPr>
          <p:cNvPr id="17" name="Shape 15"/>
          <p:cNvSpPr/>
          <p:nvPr/>
        </p:nvSpPr>
        <p:spPr>
          <a:xfrm>
            <a:off x="548640" y="4562856"/>
            <a:ext cx="10927080" cy="603504"/>
          </a:xfrm>
          <a:prstGeom prst="rect">
            <a:avLst/>
          </a:prstGeom>
          <a:solidFill>
            <a:srgbClr val="F4F6FB"/>
          </a:solidFill>
          <a:ln/>
        </p:spPr>
        <p:txBody>
          <a:bodyPr/>
          <a:p/>
        </p:txBody>
      </p:sp>
      <p:sp>
        <p:nvSpPr>
          <p:cNvPr id="18" name="Text 16"/>
          <p:cNvSpPr/>
          <p:nvPr/>
        </p:nvSpPr>
        <p:spPr>
          <a:xfrm>
            <a:off x="731520" y="4562856"/>
            <a:ext cx="3749040" cy="603504"/>
          </a:xfrm>
          <a:prstGeom prst="rect">
            <a:avLst/>
          </a:prstGeom>
          <a:noFill/>
          <a:ln/>
        </p:spPr>
        <p:txBody>
          <a:bodyPr wrap="square" lIns="0" tIns="0" rIns="0" bIns="0" rtlCol="0" anchor="ctr"/>
          <a:lstStyle/>
          <a:p>
            <a:r>
              <a:rPr sz="1250" b="1">
                <a:solidFill>
                  <a:srgbClr val="1B1F3B"/>
                </a:solidFill>
                <a:latin typeface="Calibri"/>
              </a:rPr>
              <a:t>स्पीच-टू-टेक्स्ट / ALD</a:t>
            </a:r>
          </a:p>
        </p:txBody>
      </p:sp>
      <p:sp>
        <p:nvSpPr>
          <p:cNvPr id="19" name="Text 17"/>
          <p:cNvSpPr/>
          <p:nvPr/>
        </p:nvSpPr>
        <p:spPr>
          <a:xfrm>
            <a:off x="4709160" y="4562856"/>
            <a:ext cx="6720840" cy="603504"/>
          </a:xfrm>
          <a:prstGeom prst="rect">
            <a:avLst/>
          </a:prstGeom>
          <a:noFill/>
          <a:ln/>
        </p:spPr>
        <p:txBody>
          <a:bodyPr wrap="square" lIns="0" tIns="0" rIns="0" bIns="0" rtlCol="0" anchor="ctr"/>
          <a:lstStyle/>
          <a:p>
            <a:r>
              <a:rPr sz="1250">
                <a:solidFill>
                  <a:srgbClr val="6B7390"/>
                </a:solidFill>
                <a:latin typeface="Calibri"/>
              </a:rPr>
              <a:t>AssemblyAI युनिव्हर्सल ट्रान्सक्रिप्शन मॉडेल</a:t>
            </a:r>
          </a:p>
        </p:txBody>
      </p:sp>
      <p:sp>
        <p:nvSpPr>
          <p:cNvPr id="20" name="Text 18"/>
          <p:cNvSpPr/>
          <p:nvPr/>
        </p:nvSpPr>
        <p:spPr>
          <a:xfrm>
            <a:off x="731520" y="5166360"/>
            <a:ext cx="3749040" cy="603504"/>
          </a:xfrm>
          <a:prstGeom prst="rect">
            <a:avLst/>
          </a:prstGeom>
          <a:noFill/>
          <a:ln/>
        </p:spPr>
        <p:txBody>
          <a:bodyPr wrap="square" lIns="0" tIns="0" rIns="0" bIns="0" rtlCol="0" anchor="ctr"/>
          <a:lstStyle/>
          <a:p>
            <a:r>
              <a:rPr sz="1250" b="1">
                <a:solidFill>
                  <a:srgbClr val="1B1F3B"/>
                </a:solidFill>
                <a:latin typeface="Calibri"/>
              </a:rPr>
              <a:t>भाषांतर, सारांश, चॅट, प्रश्नमंजुषा</a:t>
            </a:r>
          </a:p>
        </p:txBody>
      </p:sp>
      <p:sp>
        <p:nvSpPr>
          <p:cNvPr id="21" name="Text 19"/>
          <p:cNvSpPr/>
          <p:nvPr/>
        </p:nvSpPr>
        <p:spPr>
          <a:xfrm>
            <a:off x="4709160" y="5166360"/>
            <a:ext cx="6720840" cy="603504"/>
          </a:xfrm>
          <a:prstGeom prst="rect">
            <a:avLst/>
          </a:prstGeom>
          <a:noFill/>
          <a:ln/>
        </p:spPr>
        <p:txBody>
          <a:bodyPr wrap="square" lIns="0" tIns="0" rIns="0" bIns="0" rtlCol="0" anchor="ctr"/>
          <a:lstStyle/>
          <a:p>
            <a:r>
              <a:rPr sz="1250">
                <a:solidFill>
                  <a:srgbClr val="6B7390"/>
                </a:solidFill>
                <a:latin typeface="Calibri"/>
              </a:rPr>
              <a:t>OpenAI gpt-4o-mini (LangChain द्वारे)</a:t>
            </a:r>
          </a:p>
        </p:txBody>
      </p:sp>
      <p:sp>
        <p:nvSpPr>
          <p:cNvPr id="22" name="Shape 20"/>
          <p:cNvSpPr/>
          <p:nvPr/>
        </p:nvSpPr>
        <p:spPr>
          <a:xfrm>
            <a:off x="548640" y="5769864"/>
            <a:ext cx="10927080" cy="603504"/>
          </a:xfrm>
          <a:prstGeom prst="rect">
            <a:avLst/>
          </a:prstGeom>
          <a:solidFill>
            <a:srgbClr val="F4F6FB"/>
          </a:solidFill>
          <a:ln/>
        </p:spPr>
        <p:txBody>
          <a:bodyPr/>
          <a:p/>
        </p:txBody>
      </p:sp>
      <p:sp>
        <p:nvSpPr>
          <p:cNvPr id="23" name="Text 21"/>
          <p:cNvSpPr/>
          <p:nvPr/>
        </p:nvSpPr>
        <p:spPr>
          <a:xfrm>
            <a:off x="731520" y="5769864"/>
            <a:ext cx="3749040" cy="603504"/>
          </a:xfrm>
          <a:prstGeom prst="rect">
            <a:avLst/>
          </a:prstGeom>
          <a:noFill/>
          <a:ln/>
        </p:spPr>
        <p:txBody>
          <a:bodyPr wrap="square" lIns="0" tIns="0" rIns="0" bIns="0" rtlCol="0" anchor="ctr"/>
          <a:lstStyle/>
          <a:p>
            <a:r>
              <a:rPr sz="1250" b="1">
                <a:solidFill>
                  <a:srgbClr val="1B1F3B"/>
                </a:solidFill>
                <a:latin typeface="Calibri"/>
              </a:rPr>
              <a:t>एम्बेडिंग्ज आणि व्हेक्टर स्टोरेज</a:t>
            </a:r>
          </a:p>
        </p:txBody>
      </p:sp>
      <p:sp>
        <p:nvSpPr>
          <p:cNvPr id="24" name="Text 22"/>
          <p:cNvSpPr/>
          <p:nvPr/>
        </p:nvSpPr>
        <p:spPr>
          <a:xfrm>
            <a:off x="4709160" y="5769864"/>
            <a:ext cx="6720840" cy="603504"/>
          </a:xfrm>
          <a:prstGeom prst="rect">
            <a:avLst/>
          </a:prstGeom>
          <a:noFill/>
          <a:ln/>
        </p:spPr>
        <p:txBody>
          <a:bodyPr wrap="square" lIns="0" tIns="0" rIns="0" bIns="0" rtlCol="0" anchor="ctr"/>
          <a:lstStyle/>
          <a:p>
            <a:r>
              <a:rPr sz="1250">
                <a:solidFill>
                  <a:srgbClr val="6B7390"/>
                </a:solidFill>
                <a:latin typeface="Calibri"/>
              </a:rPr>
              <a:t>Google जनरेटिव्ह AI एम्बेडिंग्ज + FAISS (स्थानिक डिस्कवरील सातत्यपूर्ण संचयन)</a:t>
            </a:r>
          </a:p>
        </p:txBody>
      </p:sp>
      <p:sp>
        <p:nvSpPr>
          <p:cNvPr id="25" name="Text 23"/>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26" name="Text 24"/>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सिस्टम डिझाइन</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त्रिस्तरीय आर्किटेक्चर</a:t>
            </a:r>
          </a:p>
        </p:txBody>
      </p:sp>
      <p:sp>
        <p:nvSpPr>
          <p:cNvPr id="4" name="Shape 2"/>
          <p:cNvSpPr/>
          <p:nvPr/>
        </p:nvSpPr>
        <p:spPr>
          <a:xfrm>
            <a:off x="548640" y="1828800"/>
            <a:ext cx="3429000" cy="3017520"/>
          </a:xfrm>
          <a:prstGeom prst="roundRect">
            <a:avLst>
              <a:gd name="adj" fmla="val 3636"/>
            </a:avLst>
          </a:prstGeom>
          <a:solidFill>
            <a:srgbClr val="3E6CB5"/>
          </a:solidFill>
          <a:ln/>
        </p:spPr>
        <p:txBody>
          <a:bodyPr/>
          <a:p/>
        </p:txBody>
      </p:sp>
      <p:sp>
        <p:nvSpPr>
          <p:cNvPr id="5" name="Text 3"/>
          <p:cNvSpPr/>
          <p:nvPr/>
        </p:nvSpPr>
        <p:spPr>
          <a:xfrm>
            <a:off x="822960" y="2103120"/>
            <a:ext cx="2880360" cy="411480"/>
          </a:xfrm>
          <a:prstGeom prst="rect">
            <a:avLst/>
          </a:prstGeom>
          <a:noFill/>
          <a:ln/>
        </p:spPr>
        <p:txBody>
          <a:bodyPr wrap="square" rtlCol="0" anchor="ctr"/>
          <a:lstStyle/>
          <a:p>
            <a:r>
              <a:rPr sz="1900" b="1">
                <a:solidFill>
                  <a:srgbClr val="FFFFFF"/>
                </a:solidFill>
                <a:latin typeface="Cambria"/>
              </a:rPr>
              <a:t>फ्रंटएंड</a:t>
            </a:r>
          </a:p>
        </p:txBody>
      </p:sp>
      <p:sp>
        <p:nvSpPr>
          <p:cNvPr id="6" name="Text 4"/>
          <p:cNvSpPr/>
          <p:nvPr/>
        </p:nvSpPr>
        <p:spPr>
          <a:xfrm>
            <a:off x="822960" y="2542032"/>
            <a:ext cx="2880360" cy="274320"/>
          </a:xfrm>
          <a:prstGeom prst="rect">
            <a:avLst/>
          </a:prstGeom>
          <a:noFill/>
          <a:ln/>
        </p:spPr>
        <p:txBody>
          <a:bodyPr wrap="square" rtlCol="0" anchor="ctr"/>
          <a:lstStyle/>
          <a:p>
            <a:r>
              <a:rPr sz="1150">
                <a:solidFill>
                  <a:srgbClr val="CADCFC"/>
                </a:solidFill>
                <a:latin typeface="Courier New"/>
              </a:rPr>
              <a:t>frontend/</a:t>
            </a:r>
          </a:p>
        </p:txBody>
      </p:sp>
      <p:sp>
        <p:nvSpPr>
          <p:cNvPr id="7" name="Shape 5"/>
          <p:cNvSpPr/>
          <p:nvPr/>
        </p:nvSpPr>
        <p:spPr>
          <a:xfrm>
            <a:off x="822960" y="2971800"/>
            <a:ext cx="2880360" cy="0"/>
          </a:xfrm>
          <a:prstGeom prst="line">
            <a:avLst/>
          </a:prstGeom>
          <a:noFill/>
          <a:ln w="9525">
            <a:solidFill>
              <a:srgbClr val="FFFFFF">
                <a:alpha val="40000"/>
              </a:srgbClr>
            </a:solidFill>
            <a:prstDash val="solid"/>
          </a:ln>
        </p:spPr>
        <p:txBody>
          <a:bodyPr/>
          <a:p/>
        </p:txBody>
      </p:sp>
      <p:sp>
        <p:nvSpPr>
          <p:cNvPr id="8" name="Text 6"/>
          <p:cNvSpPr/>
          <p:nvPr/>
        </p:nvSpPr>
        <p:spPr>
          <a:xfrm>
            <a:off x="822960" y="3154680"/>
            <a:ext cx="2880360" cy="1463040"/>
          </a:xfrm>
          <a:prstGeom prst="rect">
            <a:avLst/>
          </a:prstGeom>
          <a:noFill/>
          <a:ln/>
        </p:spPr>
        <p:txBody>
          <a:bodyPr wrap="square" rtlCol="0" anchor="ctr"/>
          <a:lstStyle/>
          <a:p>
            <a:r>
              <a:rPr sz="1300">
                <a:solidFill>
                  <a:srgbClr val="FFFFFF"/>
                </a:solidFill>
                <a:latin typeface="Calibri"/>
              </a:rPr>
              <a:t>React + Vite क्लायंट — घटक, पृष्ठे, जागतिक शैलीकरण.</a:t>
            </a:r>
          </a:p>
        </p:txBody>
      </p:sp>
      <p:sp>
        <p:nvSpPr>
          <p:cNvPr id="9" name="Text 7"/>
          <p:cNvSpPr/>
          <p:nvPr/>
        </p:nvSpPr>
        <p:spPr>
          <a:xfrm>
            <a:off x="3931920" y="3063240"/>
            <a:ext cx="457200" cy="548640"/>
          </a:xfrm>
          <a:prstGeom prst="rect">
            <a:avLst/>
          </a:prstGeom>
          <a:noFill/>
          <a:ln/>
        </p:spPr>
        <p:txBody>
          <a:bodyPr wrap="square" rtlCol="0" anchor="ctr"/>
          <a:lstStyle/>
          <a:p>
            <a:r>
              <a:rPr sz="2400" b="1">
                <a:solidFill>
                  <a:srgbClr val="1E2761"/>
                </a:solidFill>
                <a:latin typeface="Calibri"/>
              </a:rPr>
              <a:t>→</a:t>
            </a:r>
          </a:p>
        </p:txBody>
      </p:sp>
      <p:sp>
        <p:nvSpPr>
          <p:cNvPr id="10" name="Shape 8"/>
          <p:cNvSpPr/>
          <p:nvPr/>
        </p:nvSpPr>
        <p:spPr>
          <a:xfrm>
            <a:off x="4297680" y="1828800"/>
            <a:ext cx="3429000" cy="3017520"/>
          </a:xfrm>
          <a:prstGeom prst="roundRect">
            <a:avLst>
              <a:gd name="adj" fmla="val 3636"/>
            </a:avLst>
          </a:prstGeom>
          <a:solidFill>
            <a:srgbClr val="1E2761"/>
          </a:solidFill>
          <a:ln/>
        </p:spPr>
        <p:txBody>
          <a:bodyPr/>
          <a:p/>
        </p:txBody>
      </p:sp>
      <p:sp>
        <p:nvSpPr>
          <p:cNvPr id="11" name="Text 9"/>
          <p:cNvSpPr/>
          <p:nvPr/>
        </p:nvSpPr>
        <p:spPr>
          <a:xfrm>
            <a:off x="4572000" y="2103120"/>
            <a:ext cx="2880360" cy="411480"/>
          </a:xfrm>
          <a:prstGeom prst="rect">
            <a:avLst/>
          </a:prstGeom>
          <a:noFill/>
          <a:ln/>
        </p:spPr>
        <p:txBody>
          <a:bodyPr wrap="square" rtlCol="0" anchor="ctr"/>
          <a:lstStyle/>
          <a:p>
            <a:r>
              <a:rPr sz="1900" b="1">
                <a:solidFill>
                  <a:srgbClr val="FFFFFF"/>
                </a:solidFill>
                <a:latin typeface="Cambria"/>
              </a:rPr>
              <a:t>API गेटवे</a:t>
            </a:r>
          </a:p>
        </p:txBody>
      </p:sp>
      <p:sp>
        <p:nvSpPr>
          <p:cNvPr id="12" name="Text 10"/>
          <p:cNvSpPr/>
          <p:nvPr/>
        </p:nvSpPr>
        <p:spPr>
          <a:xfrm>
            <a:off x="4572000" y="2542032"/>
            <a:ext cx="2880360" cy="274320"/>
          </a:xfrm>
          <a:prstGeom prst="rect">
            <a:avLst/>
          </a:prstGeom>
          <a:noFill/>
          <a:ln/>
        </p:spPr>
        <p:txBody>
          <a:bodyPr wrap="square" rtlCol="0" anchor="ctr"/>
          <a:lstStyle/>
          <a:p>
            <a:r>
              <a:rPr sz="1150">
                <a:solidFill>
                  <a:srgbClr val="CADCFC"/>
                </a:solidFill>
                <a:latin typeface="Courier New"/>
              </a:rPr>
              <a:t>express-backend/</a:t>
            </a:r>
          </a:p>
        </p:txBody>
      </p:sp>
      <p:sp>
        <p:nvSpPr>
          <p:cNvPr id="13" name="Shape 11"/>
          <p:cNvSpPr/>
          <p:nvPr/>
        </p:nvSpPr>
        <p:spPr>
          <a:xfrm>
            <a:off x="4572000" y="2971800"/>
            <a:ext cx="2880360" cy="0"/>
          </a:xfrm>
          <a:prstGeom prst="line">
            <a:avLst/>
          </a:prstGeom>
          <a:noFill/>
          <a:ln w="9525">
            <a:solidFill>
              <a:srgbClr val="FFFFFF">
                <a:alpha val="40000"/>
              </a:srgbClr>
            </a:solidFill>
            <a:prstDash val="solid"/>
          </a:ln>
        </p:spPr>
        <p:txBody>
          <a:bodyPr/>
          <a:p/>
        </p:txBody>
      </p:sp>
      <p:sp>
        <p:nvSpPr>
          <p:cNvPr id="14" name="Text 12"/>
          <p:cNvSpPr/>
          <p:nvPr/>
        </p:nvSpPr>
        <p:spPr>
          <a:xfrm>
            <a:off x="4572000" y="3154680"/>
            <a:ext cx="2880360" cy="1463040"/>
          </a:xfrm>
          <a:prstGeom prst="rect">
            <a:avLst/>
          </a:prstGeom>
          <a:noFill/>
          <a:ln/>
        </p:spPr>
        <p:txBody>
          <a:bodyPr wrap="square" rtlCol="0" anchor="ctr"/>
          <a:lstStyle/>
          <a:p>
            <a:r>
              <a:rPr sz="1300">
                <a:solidFill>
                  <a:srgbClr val="FFFFFF"/>
                </a:solidFill>
                <a:latin typeface="Calibri"/>
              </a:rPr>
              <a:t>Node.js + Express — प्रमाणीकरण, रूटिंग, MongoDB स्कीमा.</a:t>
            </a:r>
          </a:p>
        </p:txBody>
      </p:sp>
      <p:sp>
        <p:nvSpPr>
          <p:cNvPr id="15" name="Text 13"/>
          <p:cNvSpPr/>
          <p:nvPr/>
        </p:nvSpPr>
        <p:spPr>
          <a:xfrm>
            <a:off x="7680960" y="3063240"/>
            <a:ext cx="457200" cy="548640"/>
          </a:xfrm>
          <a:prstGeom prst="rect">
            <a:avLst/>
          </a:prstGeom>
          <a:noFill/>
          <a:ln/>
        </p:spPr>
        <p:txBody>
          <a:bodyPr wrap="square" rtlCol="0" anchor="ctr"/>
          <a:lstStyle/>
          <a:p>
            <a:r>
              <a:rPr sz="2400" b="1">
                <a:solidFill>
                  <a:srgbClr val="1E2761"/>
                </a:solidFill>
                <a:latin typeface="Calibri"/>
              </a:rPr>
              <a:t>→</a:t>
            </a:r>
          </a:p>
        </p:txBody>
      </p:sp>
      <p:sp>
        <p:nvSpPr>
          <p:cNvPr id="16" name="Shape 14"/>
          <p:cNvSpPr/>
          <p:nvPr/>
        </p:nvSpPr>
        <p:spPr>
          <a:xfrm>
            <a:off x="8046720" y="1828800"/>
            <a:ext cx="3429000" cy="3017520"/>
          </a:xfrm>
          <a:prstGeom prst="roundRect">
            <a:avLst>
              <a:gd name="adj" fmla="val 3636"/>
            </a:avLst>
          </a:prstGeom>
          <a:solidFill>
            <a:srgbClr val="5B6B8C"/>
          </a:solidFill>
          <a:ln/>
        </p:spPr>
        <p:txBody>
          <a:bodyPr/>
          <a:p/>
        </p:txBody>
      </p:sp>
      <p:sp>
        <p:nvSpPr>
          <p:cNvPr id="17" name="Text 15"/>
          <p:cNvSpPr/>
          <p:nvPr/>
        </p:nvSpPr>
        <p:spPr>
          <a:xfrm>
            <a:off x="8321040" y="2103120"/>
            <a:ext cx="2880360" cy="411480"/>
          </a:xfrm>
          <a:prstGeom prst="rect">
            <a:avLst/>
          </a:prstGeom>
          <a:noFill/>
          <a:ln/>
        </p:spPr>
        <p:txBody>
          <a:bodyPr wrap="square" rtlCol="0" anchor="ctr"/>
          <a:lstStyle/>
          <a:p>
            <a:r>
              <a:rPr sz="1900" b="1">
                <a:solidFill>
                  <a:srgbClr val="FFFFFF"/>
                </a:solidFill>
                <a:latin typeface="Cambria"/>
              </a:rPr>
              <a:t>AI सेवा</a:t>
            </a:r>
          </a:p>
        </p:txBody>
      </p:sp>
      <p:sp>
        <p:nvSpPr>
          <p:cNvPr id="18" name="Text 16"/>
          <p:cNvSpPr/>
          <p:nvPr/>
        </p:nvSpPr>
        <p:spPr>
          <a:xfrm>
            <a:off x="8321040" y="2542032"/>
            <a:ext cx="2880360" cy="274320"/>
          </a:xfrm>
          <a:prstGeom prst="rect">
            <a:avLst/>
          </a:prstGeom>
          <a:noFill/>
          <a:ln/>
        </p:spPr>
        <p:txBody>
          <a:bodyPr wrap="square" rtlCol="0" anchor="ctr"/>
          <a:lstStyle/>
          <a:p>
            <a:r>
              <a:rPr sz="1150">
                <a:solidFill>
                  <a:srgbClr val="CADCFC"/>
                </a:solidFill>
                <a:latin typeface="Courier New"/>
              </a:rPr>
              <a:t>backend/</a:t>
            </a:r>
          </a:p>
        </p:txBody>
      </p:sp>
      <p:sp>
        <p:nvSpPr>
          <p:cNvPr id="19" name="Shape 17"/>
          <p:cNvSpPr/>
          <p:nvPr/>
        </p:nvSpPr>
        <p:spPr>
          <a:xfrm>
            <a:off x="8321040" y="2971800"/>
            <a:ext cx="2880360" cy="0"/>
          </a:xfrm>
          <a:prstGeom prst="line">
            <a:avLst/>
          </a:prstGeom>
          <a:noFill/>
          <a:ln w="9525">
            <a:solidFill>
              <a:srgbClr val="FFFFFF">
                <a:alpha val="40000"/>
              </a:srgbClr>
            </a:solidFill>
            <a:prstDash val="solid"/>
          </a:ln>
        </p:spPr>
        <p:txBody>
          <a:bodyPr/>
          <a:p/>
        </p:txBody>
      </p:sp>
      <p:sp>
        <p:nvSpPr>
          <p:cNvPr id="20" name="Text 18"/>
          <p:cNvSpPr/>
          <p:nvPr/>
        </p:nvSpPr>
        <p:spPr>
          <a:xfrm>
            <a:off x="8321040" y="3154680"/>
            <a:ext cx="2880360" cy="1463040"/>
          </a:xfrm>
          <a:prstGeom prst="rect">
            <a:avLst/>
          </a:prstGeom>
          <a:noFill/>
          <a:ln/>
        </p:spPr>
        <p:txBody>
          <a:bodyPr wrap="square" rtlCol="0" anchor="ctr"/>
          <a:lstStyle/>
          <a:p>
            <a:r>
              <a:rPr sz="1300">
                <a:solidFill>
                  <a:srgbClr val="FFFFFF"/>
                </a:solidFill>
                <a:latin typeface="Calibri"/>
              </a:rPr>
              <a:t>Python + FastAPI — RAG पाइपलाइन, ट्रान्सक्रिप्शन, सामग्री संग्रह.</a:t>
            </a:r>
          </a:p>
        </p:txBody>
      </p:sp>
      <p:sp>
        <p:nvSpPr>
          <p:cNvPr id="21" name="Text 19"/>
          <p:cNvSpPr/>
          <p:nvPr/>
        </p:nvSpPr>
        <p:spPr>
          <a:xfrm>
            <a:off x="548640" y="5074920"/>
            <a:ext cx="10972800" cy="365760"/>
          </a:xfrm>
          <a:prstGeom prst="rect">
            <a:avLst/>
          </a:prstGeom>
          <a:noFill/>
          <a:ln/>
        </p:spPr>
        <p:txBody>
          <a:bodyPr wrap="square" rtlCol="0" anchor="ctr"/>
          <a:lstStyle/>
          <a:p>
            <a:r>
              <a:rPr sz="1250" i="1">
                <a:solidFill>
                  <a:srgbClr val="6B7390"/>
                </a:solidFill>
                <a:latin typeface="Calibri"/>
              </a:rPr>
              <a:t>डेटाबेस: MongoDB  ·  व्हेक्टर स्टोअर: FAISS (स्थानिक डिस्क पर्सिस्टन्स, faiss_indices/)</a:t>
            </a:r>
          </a:p>
        </p:txBody>
      </p:sp>
      <p:sp>
        <p:nvSpPr>
          <p:cNvPr id="22" name="Text 20"/>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23" name="Text 21"/>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4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प्रक्रिया प्रवाह</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FFFFFF"/>
                </a:solidFill>
                <a:latin typeface="Cambria"/>
              </a:rPr>
              <a:t>प्रक्रिया पाइपलाइन</a:t>
            </a:r>
          </a:p>
        </p:txBody>
      </p:sp>
      <p:sp>
        <p:nvSpPr>
          <p:cNvPr id="4" name="Shape 2"/>
          <p:cNvSpPr/>
          <p:nvPr/>
        </p:nvSpPr>
        <p:spPr>
          <a:xfrm>
            <a:off x="822960" y="1691640"/>
            <a:ext cx="384048" cy="384048"/>
          </a:xfrm>
          <a:prstGeom prst="ellipse">
            <a:avLst/>
          </a:prstGeom>
          <a:solidFill>
            <a:srgbClr val="1E2761"/>
          </a:solidFill>
          <a:ln w="15875">
            <a:solidFill>
              <a:srgbClr val="3E6CB5"/>
            </a:solidFill>
            <a:prstDash val="solid"/>
          </a:ln>
        </p:spPr>
        <p:txBody>
          <a:bodyPr/>
          <a:p/>
        </p:txBody>
      </p:sp>
      <p:sp>
        <p:nvSpPr>
          <p:cNvPr id="5" name="Text 3"/>
          <p:cNvSpPr/>
          <p:nvPr/>
        </p:nvSpPr>
        <p:spPr>
          <a:xfrm>
            <a:off x="822960" y="1691640"/>
            <a:ext cx="384048" cy="384048"/>
          </a:xfrm>
          <a:prstGeom prst="rect">
            <a:avLst/>
          </a:prstGeom>
          <a:noFill/>
          <a:ln/>
        </p:spPr>
        <p:txBody>
          <a:bodyPr wrap="square" lIns="0" tIns="0" rIns="0" bIns="0" rtlCol="0" anchor="ctr"/>
          <a:lstStyle/>
          <a:p>
            <a:r>
              <a:rPr sz="1200" b="1">
                <a:solidFill>
                  <a:srgbClr val="FFFFFF"/>
                </a:solidFill>
                <a:latin typeface="Calibri"/>
              </a:rPr>
              <a:t>1</a:t>
            </a:r>
          </a:p>
        </p:txBody>
      </p:sp>
      <p:sp>
        <p:nvSpPr>
          <p:cNvPr id="6" name="Shape 4"/>
          <p:cNvSpPr/>
          <p:nvPr/>
        </p:nvSpPr>
        <p:spPr>
          <a:xfrm>
            <a:off x="1014984" y="2075688"/>
            <a:ext cx="0" cy="182880"/>
          </a:xfrm>
          <a:prstGeom prst="line">
            <a:avLst/>
          </a:prstGeom>
          <a:noFill/>
          <a:ln w="15875">
            <a:solidFill>
              <a:srgbClr val="5B6B8C"/>
            </a:solidFill>
            <a:prstDash val="dash"/>
          </a:ln>
        </p:spPr>
        <p:txBody>
          <a:bodyPr/>
          <a:p/>
        </p:txBody>
      </p:sp>
      <p:sp>
        <p:nvSpPr>
          <p:cNvPr id="7" name="Text 5"/>
          <p:cNvSpPr/>
          <p:nvPr/>
        </p:nvSpPr>
        <p:spPr>
          <a:xfrm>
            <a:off x="1417320" y="1664208"/>
            <a:ext cx="9875520" cy="457200"/>
          </a:xfrm>
          <a:prstGeom prst="rect">
            <a:avLst/>
          </a:prstGeom>
          <a:noFill/>
          <a:ln/>
        </p:spPr>
        <p:txBody>
          <a:bodyPr wrap="square" lIns="0" tIns="0" rIns="0" bIns="0" rtlCol="0" anchor="ctr"/>
          <a:lstStyle/>
          <a:p>
            <a:r>
              <a:rPr sz="1350">
                <a:solidFill>
                  <a:srgbClr val="CADCFC"/>
                </a:solidFill>
                <a:latin typeface="Calibri"/>
              </a:rPr>
              <a:t>ऑडिओ/व्हिडिओ अपलोड किंवा YouTube लिंक</a:t>
            </a:r>
          </a:p>
        </p:txBody>
      </p:sp>
      <p:sp>
        <p:nvSpPr>
          <p:cNvPr id="8" name="Shape 6"/>
          <p:cNvSpPr/>
          <p:nvPr/>
        </p:nvSpPr>
        <p:spPr>
          <a:xfrm>
            <a:off x="822960" y="2258568"/>
            <a:ext cx="384048" cy="384048"/>
          </a:xfrm>
          <a:prstGeom prst="ellipse">
            <a:avLst/>
          </a:prstGeom>
          <a:solidFill>
            <a:srgbClr val="1E2761"/>
          </a:solidFill>
          <a:ln w="15875">
            <a:solidFill>
              <a:srgbClr val="3E6CB5"/>
            </a:solidFill>
            <a:prstDash val="solid"/>
          </a:ln>
        </p:spPr>
        <p:txBody>
          <a:bodyPr/>
          <a:p/>
        </p:txBody>
      </p:sp>
      <p:sp>
        <p:nvSpPr>
          <p:cNvPr id="9" name="Text 7"/>
          <p:cNvSpPr/>
          <p:nvPr/>
        </p:nvSpPr>
        <p:spPr>
          <a:xfrm>
            <a:off x="822960" y="2258568"/>
            <a:ext cx="384048" cy="384048"/>
          </a:xfrm>
          <a:prstGeom prst="rect">
            <a:avLst/>
          </a:prstGeom>
          <a:noFill/>
          <a:ln/>
        </p:spPr>
        <p:txBody>
          <a:bodyPr wrap="square" lIns="0" tIns="0" rIns="0" bIns="0" rtlCol="0" anchor="ctr"/>
          <a:lstStyle/>
          <a:p>
            <a:r>
              <a:rPr sz="1200" b="1">
                <a:solidFill>
                  <a:srgbClr val="FFFFFF"/>
                </a:solidFill>
                <a:latin typeface="Calibri"/>
              </a:rPr>
              <a:t>2</a:t>
            </a:r>
          </a:p>
        </p:txBody>
      </p:sp>
      <p:sp>
        <p:nvSpPr>
          <p:cNvPr id="10" name="Shape 8"/>
          <p:cNvSpPr/>
          <p:nvPr/>
        </p:nvSpPr>
        <p:spPr>
          <a:xfrm>
            <a:off x="1014984" y="2642616"/>
            <a:ext cx="0" cy="182880"/>
          </a:xfrm>
          <a:prstGeom prst="line">
            <a:avLst/>
          </a:prstGeom>
          <a:noFill/>
          <a:ln w="15875">
            <a:solidFill>
              <a:srgbClr val="5B6B8C"/>
            </a:solidFill>
            <a:prstDash val="dash"/>
          </a:ln>
        </p:spPr>
        <p:txBody>
          <a:bodyPr/>
          <a:p/>
        </p:txBody>
      </p:sp>
      <p:sp>
        <p:nvSpPr>
          <p:cNvPr id="11" name="Text 9"/>
          <p:cNvSpPr/>
          <p:nvPr/>
        </p:nvSpPr>
        <p:spPr>
          <a:xfrm>
            <a:off x="1417320" y="2231136"/>
            <a:ext cx="9875520" cy="457200"/>
          </a:xfrm>
          <a:prstGeom prst="rect">
            <a:avLst/>
          </a:prstGeom>
          <a:noFill/>
          <a:ln/>
        </p:spPr>
        <p:txBody>
          <a:bodyPr wrap="square" lIns="0" tIns="0" rIns="0" bIns="0" rtlCol="0" anchor="ctr"/>
          <a:lstStyle/>
          <a:p>
            <a:r>
              <a:rPr sz="1350">
                <a:solidFill>
                  <a:srgbClr val="CADCFC"/>
                </a:solidFill>
                <a:latin typeface="Calibri"/>
              </a:rPr>
              <a:t>Express गेटवे — प्रमाणीकरण आणि MongoDB रेकॉर्ड निर्मिती</a:t>
            </a:r>
          </a:p>
        </p:txBody>
      </p:sp>
      <p:sp>
        <p:nvSpPr>
          <p:cNvPr id="12" name="Shape 10"/>
          <p:cNvSpPr/>
          <p:nvPr/>
        </p:nvSpPr>
        <p:spPr>
          <a:xfrm>
            <a:off x="822960" y="2825496"/>
            <a:ext cx="384048" cy="384048"/>
          </a:xfrm>
          <a:prstGeom prst="ellipse">
            <a:avLst/>
          </a:prstGeom>
          <a:solidFill>
            <a:srgbClr val="1E2761"/>
          </a:solidFill>
          <a:ln w="15875">
            <a:solidFill>
              <a:srgbClr val="3E6CB5"/>
            </a:solidFill>
            <a:prstDash val="solid"/>
          </a:ln>
        </p:spPr>
        <p:txBody>
          <a:bodyPr/>
          <a:p/>
        </p:txBody>
      </p:sp>
      <p:sp>
        <p:nvSpPr>
          <p:cNvPr id="13" name="Text 11"/>
          <p:cNvSpPr/>
          <p:nvPr/>
        </p:nvSpPr>
        <p:spPr>
          <a:xfrm>
            <a:off x="822960" y="2825496"/>
            <a:ext cx="384048" cy="384048"/>
          </a:xfrm>
          <a:prstGeom prst="rect">
            <a:avLst/>
          </a:prstGeom>
          <a:noFill/>
          <a:ln/>
        </p:spPr>
        <p:txBody>
          <a:bodyPr wrap="square" lIns="0" tIns="0" rIns="0" bIns="0" rtlCol="0" anchor="ctr"/>
          <a:lstStyle/>
          <a:p>
            <a:r>
              <a:rPr sz="1200" b="1">
                <a:solidFill>
                  <a:srgbClr val="FFFFFF"/>
                </a:solidFill>
                <a:latin typeface="Calibri"/>
              </a:rPr>
              <a:t>3</a:t>
            </a:r>
          </a:p>
        </p:txBody>
      </p:sp>
      <p:sp>
        <p:nvSpPr>
          <p:cNvPr id="14" name="Shape 12"/>
          <p:cNvSpPr/>
          <p:nvPr/>
        </p:nvSpPr>
        <p:spPr>
          <a:xfrm>
            <a:off x="1014984" y="3209544"/>
            <a:ext cx="0" cy="182880"/>
          </a:xfrm>
          <a:prstGeom prst="line">
            <a:avLst/>
          </a:prstGeom>
          <a:noFill/>
          <a:ln w="15875">
            <a:solidFill>
              <a:srgbClr val="5B6B8C"/>
            </a:solidFill>
            <a:prstDash val="dash"/>
          </a:ln>
        </p:spPr>
        <p:txBody>
          <a:bodyPr/>
          <a:p/>
        </p:txBody>
      </p:sp>
      <p:sp>
        <p:nvSpPr>
          <p:cNvPr id="15" name="Text 13"/>
          <p:cNvSpPr/>
          <p:nvPr/>
        </p:nvSpPr>
        <p:spPr>
          <a:xfrm>
            <a:off x="1417320" y="2798064"/>
            <a:ext cx="9875520" cy="457200"/>
          </a:xfrm>
          <a:prstGeom prst="rect">
            <a:avLst/>
          </a:prstGeom>
          <a:noFill/>
          <a:ln/>
        </p:spPr>
        <p:txBody>
          <a:bodyPr wrap="square" lIns="0" tIns="0" rIns="0" bIns="0" rtlCol="0" anchor="ctr"/>
          <a:lstStyle/>
          <a:p>
            <a:r>
              <a:rPr sz="1350">
                <a:solidFill>
                  <a:srgbClr val="CADCFC"/>
                </a:solidFill>
                <a:latin typeface="Calibri"/>
              </a:rPr>
              <a:t>FastAPI AI सेवा — पेलोड पडताळणी</a:t>
            </a:r>
          </a:p>
        </p:txBody>
      </p:sp>
      <p:sp>
        <p:nvSpPr>
          <p:cNvPr id="16" name="Shape 14"/>
          <p:cNvSpPr/>
          <p:nvPr/>
        </p:nvSpPr>
        <p:spPr>
          <a:xfrm>
            <a:off x="822960" y="3392424"/>
            <a:ext cx="384048" cy="384048"/>
          </a:xfrm>
          <a:prstGeom prst="ellipse">
            <a:avLst/>
          </a:prstGeom>
          <a:solidFill>
            <a:srgbClr val="1E2761"/>
          </a:solidFill>
          <a:ln w="15875">
            <a:solidFill>
              <a:srgbClr val="3E6CB5"/>
            </a:solidFill>
            <a:prstDash val="solid"/>
          </a:ln>
        </p:spPr>
        <p:txBody>
          <a:bodyPr/>
          <a:p/>
        </p:txBody>
      </p:sp>
      <p:sp>
        <p:nvSpPr>
          <p:cNvPr id="17" name="Text 15"/>
          <p:cNvSpPr/>
          <p:nvPr/>
        </p:nvSpPr>
        <p:spPr>
          <a:xfrm>
            <a:off x="822960" y="3392424"/>
            <a:ext cx="384048" cy="384048"/>
          </a:xfrm>
          <a:prstGeom prst="rect">
            <a:avLst/>
          </a:prstGeom>
          <a:noFill/>
          <a:ln/>
        </p:spPr>
        <p:txBody>
          <a:bodyPr wrap="square" lIns="0" tIns="0" rIns="0" bIns="0" rtlCol="0" anchor="ctr"/>
          <a:lstStyle/>
          <a:p>
            <a:r>
              <a:rPr sz="1200" b="1">
                <a:solidFill>
                  <a:srgbClr val="FFFFFF"/>
                </a:solidFill>
                <a:latin typeface="Calibri"/>
              </a:rPr>
              <a:t>4</a:t>
            </a:r>
          </a:p>
        </p:txBody>
      </p:sp>
      <p:sp>
        <p:nvSpPr>
          <p:cNvPr id="18" name="Shape 16"/>
          <p:cNvSpPr/>
          <p:nvPr/>
        </p:nvSpPr>
        <p:spPr>
          <a:xfrm>
            <a:off x="1014984" y="3776472"/>
            <a:ext cx="0" cy="182880"/>
          </a:xfrm>
          <a:prstGeom prst="line">
            <a:avLst/>
          </a:prstGeom>
          <a:noFill/>
          <a:ln w="15875">
            <a:solidFill>
              <a:srgbClr val="5B6B8C"/>
            </a:solidFill>
            <a:prstDash val="dash"/>
          </a:ln>
        </p:spPr>
        <p:txBody>
          <a:bodyPr/>
          <a:p/>
        </p:txBody>
      </p:sp>
      <p:sp>
        <p:nvSpPr>
          <p:cNvPr id="19" name="Text 17"/>
          <p:cNvSpPr/>
          <p:nvPr/>
        </p:nvSpPr>
        <p:spPr>
          <a:xfrm>
            <a:off x="1417320" y="3364992"/>
            <a:ext cx="9875520" cy="457200"/>
          </a:xfrm>
          <a:prstGeom prst="rect">
            <a:avLst/>
          </a:prstGeom>
          <a:noFill/>
          <a:ln/>
        </p:spPr>
        <p:txBody>
          <a:bodyPr wrap="square" lIns="0" tIns="0" rIns="0" bIns="0" rtlCol="0" anchor="ctr"/>
          <a:lstStyle/>
          <a:p>
            <a:r>
              <a:rPr sz="1350">
                <a:solidFill>
                  <a:srgbClr val="CADCFC"/>
                </a:solidFill>
                <a:latin typeface="Calibri"/>
              </a:rPr>
              <a:t>AssemblyAI / YouTube ट्रान्सक्रिप्ट API — भाषा शोध</a:t>
            </a:r>
          </a:p>
        </p:txBody>
      </p:sp>
      <p:sp>
        <p:nvSpPr>
          <p:cNvPr id="20" name="Shape 18"/>
          <p:cNvSpPr/>
          <p:nvPr/>
        </p:nvSpPr>
        <p:spPr>
          <a:xfrm>
            <a:off x="822960" y="3959352"/>
            <a:ext cx="384048" cy="384048"/>
          </a:xfrm>
          <a:prstGeom prst="ellipse">
            <a:avLst/>
          </a:prstGeom>
          <a:solidFill>
            <a:srgbClr val="1E2761"/>
          </a:solidFill>
          <a:ln w="15875">
            <a:solidFill>
              <a:srgbClr val="3E6CB5"/>
            </a:solidFill>
            <a:prstDash val="solid"/>
          </a:ln>
        </p:spPr>
        <p:txBody>
          <a:bodyPr/>
          <a:p/>
        </p:txBody>
      </p:sp>
      <p:sp>
        <p:nvSpPr>
          <p:cNvPr id="21" name="Text 19"/>
          <p:cNvSpPr/>
          <p:nvPr/>
        </p:nvSpPr>
        <p:spPr>
          <a:xfrm>
            <a:off x="822960" y="3959352"/>
            <a:ext cx="384048" cy="384048"/>
          </a:xfrm>
          <a:prstGeom prst="rect">
            <a:avLst/>
          </a:prstGeom>
          <a:noFill/>
          <a:ln/>
        </p:spPr>
        <p:txBody>
          <a:bodyPr wrap="square" lIns="0" tIns="0" rIns="0" bIns="0" rtlCol="0" anchor="ctr"/>
          <a:lstStyle/>
          <a:p>
            <a:r>
              <a:rPr sz="1200" b="1">
                <a:solidFill>
                  <a:srgbClr val="FFFFFF"/>
                </a:solidFill>
                <a:latin typeface="Calibri"/>
              </a:rPr>
              <a:t>5</a:t>
            </a:r>
          </a:p>
        </p:txBody>
      </p:sp>
      <p:sp>
        <p:nvSpPr>
          <p:cNvPr id="22" name="Shape 20"/>
          <p:cNvSpPr/>
          <p:nvPr/>
        </p:nvSpPr>
        <p:spPr>
          <a:xfrm>
            <a:off x="1014984" y="4343400"/>
            <a:ext cx="0" cy="182880"/>
          </a:xfrm>
          <a:prstGeom prst="line">
            <a:avLst/>
          </a:prstGeom>
          <a:noFill/>
          <a:ln w="15875">
            <a:solidFill>
              <a:srgbClr val="5B6B8C"/>
            </a:solidFill>
            <a:prstDash val="dash"/>
          </a:ln>
        </p:spPr>
        <p:txBody>
          <a:bodyPr/>
          <a:p/>
        </p:txBody>
      </p:sp>
      <p:sp>
        <p:nvSpPr>
          <p:cNvPr id="23" name="Text 21"/>
          <p:cNvSpPr/>
          <p:nvPr/>
        </p:nvSpPr>
        <p:spPr>
          <a:xfrm>
            <a:off x="1417320" y="3931920"/>
            <a:ext cx="9875520" cy="457200"/>
          </a:xfrm>
          <a:prstGeom prst="rect">
            <a:avLst/>
          </a:prstGeom>
          <a:noFill/>
          <a:ln/>
        </p:spPr>
        <p:txBody>
          <a:bodyPr wrap="square" lIns="0" tIns="0" rIns="0" bIns="0" rtlCol="0" anchor="ctr"/>
          <a:lstStyle/>
          <a:p>
            <a:r>
              <a:rPr sz="1350">
                <a:solidFill>
                  <a:srgbClr val="CADCFC"/>
                </a:solidFill>
                <a:latin typeface="Calibri"/>
              </a:rPr>
              <a:t>gpt-4o-mini — पर्यायी इंग्रजी भाषांतर</a:t>
            </a:r>
          </a:p>
        </p:txBody>
      </p:sp>
      <p:sp>
        <p:nvSpPr>
          <p:cNvPr id="24" name="Shape 22"/>
          <p:cNvSpPr/>
          <p:nvPr/>
        </p:nvSpPr>
        <p:spPr>
          <a:xfrm>
            <a:off x="822960" y="4526280"/>
            <a:ext cx="384048" cy="384048"/>
          </a:xfrm>
          <a:prstGeom prst="ellipse">
            <a:avLst/>
          </a:prstGeom>
          <a:solidFill>
            <a:srgbClr val="1E2761"/>
          </a:solidFill>
          <a:ln w="15875">
            <a:solidFill>
              <a:srgbClr val="3E6CB5"/>
            </a:solidFill>
            <a:prstDash val="solid"/>
          </a:ln>
        </p:spPr>
        <p:txBody>
          <a:bodyPr/>
          <a:p/>
        </p:txBody>
      </p:sp>
      <p:sp>
        <p:nvSpPr>
          <p:cNvPr id="25" name="Text 23"/>
          <p:cNvSpPr/>
          <p:nvPr/>
        </p:nvSpPr>
        <p:spPr>
          <a:xfrm>
            <a:off x="822960" y="4526280"/>
            <a:ext cx="384048" cy="384048"/>
          </a:xfrm>
          <a:prstGeom prst="rect">
            <a:avLst/>
          </a:prstGeom>
          <a:noFill/>
          <a:ln/>
        </p:spPr>
        <p:txBody>
          <a:bodyPr wrap="square" lIns="0" tIns="0" rIns="0" bIns="0" rtlCol="0" anchor="ctr"/>
          <a:lstStyle/>
          <a:p>
            <a:r>
              <a:rPr sz="1200" b="1">
                <a:solidFill>
                  <a:srgbClr val="FFFFFF"/>
                </a:solidFill>
                <a:latin typeface="Calibri"/>
              </a:rPr>
              <a:t>6</a:t>
            </a:r>
          </a:p>
        </p:txBody>
      </p:sp>
      <p:sp>
        <p:nvSpPr>
          <p:cNvPr id="26" name="Shape 24"/>
          <p:cNvSpPr/>
          <p:nvPr/>
        </p:nvSpPr>
        <p:spPr>
          <a:xfrm>
            <a:off x="1014984" y="4910328"/>
            <a:ext cx="0" cy="182880"/>
          </a:xfrm>
          <a:prstGeom prst="line">
            <a:avLst/>
          </a:prstGeom>
          <a:noFill/>
          <a:ln w="15875">
            <a:solidFill>
              <a:srgbClr val="5B6B8C"/>
            </a:solidFill>
            <a:prstDash val="dash"/>
          </a:ln>
        </p:spPr>
        <p:txBody>
          <a:bodyPr/>
          <a:p/>
        </p:txBody>
      </p:sp>
      <p:sp>
        <p:nvSpPr>
          <p:cNvPr id="27" name="Text 25"/>
          <p:cNvSpPr/>
          <p:nvPr/>
        </p:nvSpPr>
        <p:spPr>
          <a:xfrm>
            <a:off x="1417320" y="4498848"/>
            <a:ext cx="9875520" cy="457200"/>
          </a:xfrm>
          <a:prstGeom prst="rect">
            <a:avLst/>
          </a:prstGeom>
          <a:noFill/>
          <a:ln/>
        </p:spPr>
        <p:txBody>
          <a:bodyPr wrap="square" lIns="0" tIns="0" rIns="0" bIns="0" rtlCol="0" anchor="ctr"/>
          <a:lstStyle/>
          <a:p>
            <a:r>
              <a:rPr sz="1350">
                <a:solidFill>
                  <a:srgbClr val="CADCFC"/>
                </a:solidFill>
                <a:latin typeface="Calibri"/>
              </a:rPr>
              <a:t>gpt-4o-mini — सारांश, नोंदी, फ्लॅशकार्ड्स, प्रश्नमंजुषा</a:t>
            </a:r>
          </a:p>
        </p:txBody>
      </p:sp>
      <p:sp>
        <p:nvSpPr>
          <p:cNvPr id="28" name="Shape 26"/>
          <p:cNvSpPr/>
          <p:nvPr/>
        </p:nvSpPr>
        <p:spPr>
          <a:xfrm>
            <a:off x="822960" y="5093208"/>
            <a:ext cx="384048" cy="384048"/>
          </a:xfrm>
          <a:prstGeom prst="ellipse">
            <a:avLst/>
          </a:prstGeom>
          <a:solidFill>
            <a:srgbClr val="1E2761"/>
          </a:solidFill>
          <a:ln w="15875">
            <a:solidFill>
              <a:srgbClr val="3E6CB5"/>
            </a:solidFill>
            <a:prstDash val="solid"/>
          </a:ln>
        </p:spPr>
        <p:txBody>
          <a:bodyPr/>
          <a:p/>
        </p:txBody>
      </p:sp>
      <p:sp>
        <p:nvSpPr>
          <p:cNvPr id="29" name="Text 27"/>
          <p:cNvSpPr/>
          <p:nvPr/>
        </p:nvSpPr>
        <p:spPr>
          <a:xfrm>
            <a:off x="822960" y="5093208"/>
            <a:ext cx="384048" cy="384048"/>
          </a:xfrm>
          <a:prstGeom prst="rect">
            <a:avLst/>
          </a:prstGeom>
          <a:noFill/>
          <a:ln/>
        </p:spPr>
        <p:txBody>
          <a:bodyPr wrap="square" lIns="0" tIns="0" rIns="0" bIns="0" rtlCol="0" anchor="ctr"/>
          <a:lstStyle/>
          <a:p>
            <a:r>
              <a:rPr sz="1200" b="1">
                <a:solidFill>
                  <a:srgbClr val="FFFFFF"/>
                </a:solidFill>
                <a:latin typeface="Calibri"/>
              </a:rPr>
              <a:t>7</a:t>
            </a:r>
          </a:p>
        </p:txBody>
      </p:sp>
      <p:sp>
        <p:nvSpPr>
          <p:cNvPr id="30" name="Shape 28"/>
          <p:cNvSpPr/>
          <p:nvPr/>
        </p:nvSpPr>
        <p:spPr>
          <a:xfrm>
            <a:off x="1014984" y="5477256"/>
            <a:ext cx="0" cy="182880"/>
          </a:xfrm>
          <a:prstGeom prst="line">
            <a:avLst/>
          </a:prstGeom>
          <a:noFill/>
          <a:ln w="15875">
            <a:solidFill>
              <a:srgbClr val="5B6B8C"/>
            </a:solidFill>
            <a:prstDash val="dash"/>
          </a:ln>
        </p:spPr>
        <p:txBody>
          <a:bodyPr/>
          <a:p/>
        </p:txBody>
      </p:sp>
      <p:sp>
        <p:nvSpPr>
          <p:cNvPr id="31" name="Text 29"/>
          <p:cNvSpPr/>
          <p:nvPr/>
        </p:nvSpPr>
        <p:spPr>
          <a:xfrm>
            <a:off x="1417320" y="5065776"/>
            <a:ext cx="9875520" cy="457200"/>
          </a:xfrm>
          <a:prstGeom prst="rect">
            <a:avLst/>
          </a:prstGeom>
          <a:noFill/>
          <a:ln/>
        </p:spPr>
        <p:txBody>
          <a:bodyPr wrap="square" lIns="0" tIns="0" rIns="0" bIns="0" rtlCol="0" anchor="ctr"/>
          <a:lstStyle/>
          <a:p>
            <a:r>
              <a:rPr sz="1350">
                <a:solidFill>
                  <a:srgbClr val="CADCFC"/>
                </a:solidFill>
                <a:latin typeface="Calibri"/>
              </a:rPr>
              <a:t>Gemini एम्बेडिंग्जद्वारे FAISS व्हेक्टरायझेशन — RAG चॅट सज्ज</a:t>
            </a:r>
          </a:p>
        </p:txBody>
      </p:sp>
      <p:sp>
        <p:nvSpPr>
          <p:cNvPr id="32" name="Shape 30"/>
          <p:cNvSpPr/>
          <p:nvPr/>
        </p:nvSpPr>
        <p:spPr>
          <a:xfrm>
            <a:off x="822960" y="5660136"/>
            <a:ext cx="384048" cy="384048"/>
          </a:xfrm>
          <a:prstGeom prst="ellipse">
            <a:avLst/>
          </a:prstGeom>
          <a:solidFill>
            <a:srgbClr val="3E6CB5"/>
          </a:solidFill>
          <a:ln w="15875">
            <a:solidFill>
              <a:srgbClr val="3E6CB5"/>
            </a:solidFill>
            <a:prstDash val="solid"/>
          </a:ln>
        </p:spPr>
        <p:txBody>
          <a:bodyPr/>
          <a:p/>
        </p:txBody>
      </p:sp>
      <p:sp>
        <p:nvSpPr>
          <p:cNvPr id="33" name="Text 31"/>
          <p:cNvSpPr/>
          <p:nvPr/>
        </p:nvSpPr>
        <p:spPr>
          <a:xfrm>
            <a:off x="822960" y="5660136"/>
            <a:ext cx="384048" cy="384048"/>
          </a:xfrm>
          <a:prstGeom prst="rect">
            <a:avLst/>
          </a:prstGeom>
          <a:noFill/>
          <a:ln/>
        </p:spPr>
        <p:txBody>
          <a:bodyPr wrap="square" lIns="0" tIns="0" rIns="0" bIns="0" rtlCol="0" anchor="ctr"/>
          <a:lstStyle/>
          <a:p>
            <a:r>
              <a:rPr sz="1200" b="1">
                <a:solidFill>
                  <a:srgbClr val="FFFFFF"/>
                </a:solidFill>
                <a:latin typeface="Calibri"/>
              </a:rPr>
              <a:t>8</a:t>
            </a:r>
          </a:p>
        </p:txBody>
      </p:sp>
      <p:sp>
        <p:nvSpPr>
          <p:cNvPr id="34" name="Text 32"/>
          <p:cNvSpPr/>
          <p:nvPr/>
        </p:nvSpPr>
        <p:spPr>
          <a:xfrm>
            <a:off x="1417320" y="5632704"/>
            <a:ext cx="9875520" cy="457200"/>
          </a:xfrm>
          <a:prstGeom prst="rect">
            <a:avLst/>
          </a:prstGeom>
          <a:noFill/>
          <a:ln/>
        </p:spPr>
        <p:txBody>
          <a:bodyPr wrap="square" lIns="0" tIns="0" rIns="0" bIns="0" rtlCol="0" anchor="ctr"/>
          <a:lstStyle/>
          <a:p>
            <a:r>
              <a:rPr sz="1350">
                <a:solidFill>
                  <a:srgbClr val="CADCFC"/>
                </a:solidFill>
                <a:latin typeface="Calibri"/>
              </a:rPr>
              <a:t>निकाल MongoDB मध्ये जतन करून UI वर परत पाठवले जातात</a:t>
            </a:r>
          </a:p>
        </p:txBody>
      </p:sp>
      <p:sp>
        <p:nvSpPr>
          <p:cNvPr id="35" name="Text 33"/>
          <p:cNvSpPr/>
          <p:nvPr/>
        </p:nvSpPr>
        <p:spPr>
          <a:xfrm>
            <a:off x="457200" y="6537960"/>
            <a:ext cx="2743200" cy="274320"/>
          </a:xfrm>
          <a:prstGeom prst="rect">
            <a:avLst/>
          </a:prstGeom>
          <a:noFill/>
          <a:ln/>
        </p:spPr>
        <p:txBody>
          <a:bodyPr wrap="square" rtlCol="0" anchor="ctr"/>
          <a:lstStyle/>
          <a:p>
            <a:r>
              <a:rPr sz="1000">
                <a:solidFill>
                  <a:srgbClr val="CADCFC"/>
                </a:solidFill>
                <a:latin typeface="Calibri"/>
              </a:rPr>
              <a:t>Graspify</a:t>
            </a:r>
          </a:p>
        </p:txBody>
      </p:sp>
      <p:sp>
        <p:nvSpPr>
          <p:cNvPr id="36" name="Text 34"/>
          <p:cNvSpPr/>
          <p:nvPr/>
        </p:nvSpPr>
        <p:spPr>
          <a:xfrm>
            <a:off x="11430000" y="6537960"/>
            <a:ext cx="457200" cy="274320"/>
          </a:xfrm>
          <a:prstGeom prst="rect">
            <a:avLst/>
          </a:prstGeom>
          <a:noFill/>
          <a:ln/>
        </p:spPr>
        <p:txBody>
          <a:bodyPr wrap="square" rtlCol="0" anchor="ctr"/>
          <a:lstStyle/>
          <a:p>
            <a:r>
              <a:rPr sz="1000">
                <a:solidFill>
                  <a:srgbClr val="CADCFC"/>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सुरुवात करणे</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सेटअप आणि इन्स्टॉलेशन</a:t>
            </a:r>
          </a:p>
        </p:txBody>
      </p:sp>
      <p:sp>
        <p:nvSpPr>
          <p:cNvPr id="4" name="Text 2"/>
          <p:cNvSpPr/>
          <p:nvPr/>
        </p:nvSpPr>
        <p:spPr>
          <a:xfrm>
            <a:off x="548640" y="1645920"/>
            <a:ext cx="4572000" cy="365760"/>
          </a:xfrm>
          <a:prstGeom prst="rect">
            <a:avLst/>
          </a:prstGeom>
          <a:noFill/>
          <a:ln/>
        </p:spPr>
        <p:txBody>
          <a:bodyPr wrap="square" rtlCol="0" anchor="ctr"/>
          <a:lstStyle/>
          <a:p>
            <a:r>
              <a:rPr sz="1500" b="1">
                <a:solidFill>
                  <a:srgbClr val="1E2761"/>
                </a:solidFill>
                <a:latin typeface="Calibri"/>
              </a:rPr>
              <a:t>पूर्वावश्यकता</a:t>
            </a:r>
          </a:p>
        </p:txBody>
      </p:sp>
      <p:sp>
        <p:nvSpPr>
          <p:cNvPr id="5" name="Shape 3"/>
          <p:cNvSpPr/>
          <p:nvPr/>
        </p:nvSpPr>
        <p:spPr>
          <a:xfrm>
            <a:off x="548640" y="2157984"/>
            <a:ext cx="109728" cy="109728"/>
          </a:xfrm>
          <a:prstGeom prst="ellipse">
            <a:avLst/>
          </a:prstGeom>
          <a:solidFill>
            <a:srgbClr val="3E6CB5"/>
          </a:solidFill>
          <a:ln/>
        </p:spPr>
        <p:txBody>
          <a:bodyPr/>
          <a:p/>
        </p:txBody>
      </p:sp>
      <p:sp>
        <p:nvSpPr>
          <p:cNvPr id="6" name="Text 4"/>
          <p:cNvSpPr/>
          <p:nvPr/>
        </p:nvSpPr>
        <p:spPr>
          <a:xfrm>
            <a:off x="822960" y="2103120"/>
            <a:ext cx="4572000" cy="320040"/>
          </a:xfrm>
          <a:prstGeom prst="rect">
            <a:avLst/>
          </a:prstGeom>
          <a:noFill/>
          <a:ln/>
        </p:spPr>
        <p:txBody>
          <a:bodyPr wrap="square" lIns="0" tIns="0" rIns="0" bIns="0" rtlCol="0" anchor="ctr"/>
          <a:lstStyle/>
          <a:p>
            <a:r>
              <a:rPr sz="1350">
                <a:solidFill>
                  <a:srgbClr val="1B1F3B"/>
                </a:solidFill>
                <a:latin typeface="Calibri"/>
              </a:rPr>
              <a:t>Python 3.10+</a:t>
            </a:r>
          </a:p>
        </p:txBody>
      </p:sp>
      <p:sp>
        <p:nvSpPr>
          <p:cNvPr id="7" name="Shape 5"/>
          <p:cNvSpPr/>
          <p:nvPr/>
        </p:nvSpPr>
        <p:spPr>
          <a:xfrm>
            <a:off x="548640" y="2615184"/>
            <a:ext cx="109728" cy="109728"/>
          </a:xfrm>
          <a:prstGeom prst="ellipse">
            <a:avLst/>
          </a:prstGeom>
          <a:solidFill>
            <a:srgbClr val="3E6CB5"/>
          </a:solidFill>
          <a:ln/>
        </p:spPr>
        <p:txBody>
          <a:bodyPr/>
          <a:p/>
        </p:txBody>
      </p:sp>
      <p:sp>
        <p:nvSpPr>
          <p:cNvPr id="8" name="Text 6"/>
          <p:cNvSpPr/>
          <p:nvPr/>
        </p:nvSpPr>
        <p:spPr>
          <a:xfrm>
            <a:off x="822960" y="2560320"/>
            <a:ext cx="4572000" cy="320040"/>
          </a:xfrm>
          <a:prstGeom prst="rect">
            <a:avLst/>
          </a:prstGeom>
          <a:noFill/>
          <a:ln/>
        </p:spPr>
        <p:txBody>
          <a:bodyPr wrap="square" lIns="0" tIns="0" rIns="0" bIns="0" rtlCol="0" anchor="ctr"/>
          <a:lstStyle/>
          <a:p>
            <a:r>
              <a:rPr sz="1350">
                <a:solidFill>
                  <a:srgbClr val="1B1F3B"/>
                </a:solidFill>
                <a:latin typeface="Calibri"/>
              </a:rPr>
              <a:t>Node.js 18+</a:t>
            </a:r>
          </a:p>
        </p:txBody>
      </p:sp>
      <p:sp>
        <p:nvSpPr>
          <p:cNvPr id="9" name="Shape 7"/>
          <p:cNvSpPr/>
          <p:nvPr/>
        </p:nvSpPr>
        <p:spPr>
          <a:xfrm>
            <a:off x="548640" y="3072384"/>
            <a:ext cx="109728" cy="109728"/>
          </a:xfrm>
          <a:prstGeom prst="ellipse">
            <a:avLst/>
          </a:prstGeom>
          <a:solidFill>
            <a:srgbClr val="3E6CB5"/>
          </a:solidFill>
          <a:ln/>
        </p:spPr>
        <p:txBody>
          <a:bodyPr/>
          <a:p/>
        </p:txBody>
      </p:sp>
      <p:sp>
        <p:nvSpPr>
          <p:cNvPr id="10" name="Text 8"/>
          <p:cNvSpPr/>
          <p:nvPr/>
        </p:nvSpPr>
        <p:spPr>
          <a:xfrm>
            <a:off x="822960" y="3017520"/>
            <a:ext cx="4572000" cy="320040"/>
          </a:xfrm>
          <a:prstGeom prst="rect">
            <a:avLst/>
          </a:prstGeom>
          <a:noFill/>
          <a:ln/>
        </p:spPr>
        <p:txBody>
          <a:bodyPr wrap="square" lIns="0" tIns="0" rIns="0" bIns="0" rtlCol="0" anchor="ctr"/>
          <a:lstStyle/>
          <a:p>
            <a:r>
              <a:rPr sz="1350">
                <a:solidFill>
                  <a:srgbClr val="1B1F3B"/>
                </a:solidFill>
                <a:latin typeface="Calibri"/>
              </a:rPr>
              <a:t>MongoDB (स्थानिक किंवा Atlas)</a:t>
            </a:r>
          </a:p>
        </p:txBody>
      </p:sp>
      <p:sp>
        <p:nvSpPr>
          <p:cNvPr id="11" name="Shape 9"/>
          <p:cNvSpPr/>
          <p:nvPr/>
        </p:nvSpPr>
        <p:spPr>
          <a:xfrm>
            <a:off x="548640" y="3529584"/>
            <a:ext cx="109728" cy="109728"/>
          </a:xfrm>
          <a:prstGeom prst="ellipse">
            <a:avLst/>
          </a:prstGeom>
          <a:solidFill>
            <a:srgbClr val="3E6CB5"/>
          </a:solidFill>
          <a:ln/>
        </p:spPr>
        <p:txBody>
          <a:bodyPr/>
          <a:p/>
        </p:txBody>
      </p:sp>
      <p:sp>
        <p:nvSpPr>
          <p:cNvPr id="12" name="Text 10"/>
          <p:cNvSpPr/>
          <p:nvPr/>
        </p:nvSpPr>
        <p:spPr>
          <a:xfrm>
            <a:off x="822960" y="3474720"/>
            <a:ext cx="4572000" cy="320040"/>
          </a:xfrm>
          <a:prstGeom prst="rect">
            <a:avLst/>
          </a:prstGeom>
          <a:noFill/>
          <a:ln/>
        </p:spPr>
        <p:txBody>
          <a:bodyPr wrap="square" lIns="0" tIns="0" rIns="0" bIns="0" rtlCol="0" anchor="ctr"/>
          <a:lstStyle/>
          <a:p>
            <a:r>
              <a:rPr sz="1350">
                <a:solidFill>
                  <a:srgbClr val="1B1F3B"/>
                </a:solidFill>
                <a:latin typeface="Calibri"/>
              </a:rPr>
              <a:t>GEMINI_API_KEY</a:t>
            </a:r>
          </a:p>
        </p:txBody>
      </p:sp>
      <p:sp>
        <p:nvSpPr>
          <p:cNvPr id="13" name="Shape 11"/>
          <p:cNvSpPr/>
          <p:nvPr/>
        </p:nvSpPr>
        <p:spPr>
          <a:xfrm>
            <a:off x="548640" y="3986784"/>
            <a:ext cx="109728" cy="109728"/>
          </a:xfrm>
          <a:prstGeom prst="ellipse">
            <a:avLst/>
          </a:prstGeom>
          <a:solidFill>
            <a:srgbClr val="3E6CB5"/>
          </a:solidFill>
          <a:ln/>
        </p:spPr>
        <p:txBody>
          <a:bodyPr/>
          <a:p/>
        </p:txBody>
      </p:sp>
      <p:sp>
        <p:nvSpPr>
          <p:cNvPr id="14" name="Text 12"/>
          <p:cNvSpPr/>
          <p:nvPr/>
        </p:nvSpPr>
        <p:spPr>
          <a:xfrm>
            <a:off x="822960" y="3931920"/>
            <a:ext cx="4572000" cy="320040"/>
          </a:xfrm>
          <a:prstGeom prst="rect">
            <a:avLst/>
          </a:prstGeom>
          <a:noFill/>
          <a:ln/>
        </p:spPr>
        <p:txBody>
          <a:bodyPr wrap="square" lIns="0" tIns="0" rIns="0" bIns="0" rtlCol="0" anchor="ctr"/>
          <a:lstStyle/>
          <a:p>
            <a:r>
              <a:rPr sz="1350">
                <a:solidFill>
                  <a:srgbClr val="1B1F3B"/>
                </a:solidFill>
                <a:latin typeface="Calibri"/>
              </a:rPr>
              <a:t>OPENAI_API_KEY + OPENAI_BASE_URL</a:t>
            </a:r>
          </a:p>
        </p:txBody>
      </p:sp>
      <p:sp>
        <p:nvSpPr>
          <p:cNvPr id="15" name="Shape 13"/>
          <p:cNvSpPr/>
          <p:nvPr/>
        </p:nvSpPr>
        <p:spPr>
          <a:xfrm>
            <a:off x="548640" y="4443984"/>
            <a:ext cx="109728" cy="109728"/>
          </a:xfrm>
          <a:prstGeom prst="ellipse">
            <a:avLst/>
          </a:prstGeom>
          <a:solidFill>
            <a:srgbClr val="3E6CB5"/>
          </a:solidFill>
          <a:ln/>
        </p:spPr>
        <p:txBody>
          <a:bodyPr/>
          <a:p/>
        </p:txBody>
      </p:sp>
      <p:sp>
        <p:nvSpPr>
          <p:cNvPr id="16" name="Text 14"/>
          <p:cNvSpPr/>
          <p:nvPr/>
        </p:nvSpPr>
        <p:spPr>
          <a:xfrm>
            <a:off x="822960" y="4389120"/>
            <a:ext cx="4572000" cy="320040"/>
          </a:xfrm>
          <a:prstGeom prst="rect">
            <a:avLst/>
          </a:prstGeom>
          <a:noFill/>
          <a:ln/>
        </p:spPr>
        <p:txBody>
          <a:bodyPr wrap="square" lIns="0" tIns="0" rIns="0" bIns="0" rtlCol="0" anchor="ctr"/>
          <a:lstStyle/>
          <a:p>
            <a:r>
              <a:rPr sz="1350">
                <a:solidFill>
                  <a:srgbClr val="1B1F3B"/>
                </a:solidFill>
                <a:latin typeface="Calibri"/>
              </a:rPr>
              <a:t>ASSEMBLYAI_API_KEY</a:t>
            </a:r>
          </a:p>
        </p:txBody>
      </p:sp>
      <p:sp>
        <p:nvSpPr>
          <p:cNvPr id="17" name="Shape 15"/>
          <p:cNvSpPr/>
          <p:nvPr/>
        </p:nvSpPr>
        <p:spPr>
          <a:xfrm>
            <a:off x="5669280" y="1645920"/>
            <a:ext cx="5943600" cy="1234440"/>
          </a:xfrm>
          <a:prstGeom prst="roundRect">
            <a:avLst>
              <a:gd name="adj" fmla="val 7407"/>
            </a:avLst>
          </a:prstGeom>
          <a:solidFill>
            <a:srgbClr val="F4F6FB"/>
          </a:solidFill>
          <a:ln/>
        </p:spPr>
        <p:txBody>
          <a:bodyPr/>
          <a:p/>
        </p:txBody>
      </p:sp>
      <p:sp>
        <p:nvSpPr>
          <p:cNvPr id="18" name="Shape 16"/>
          <p:cNvSpPr/>
          <p:nvPr/>
        </p:nvSpPr>
        <p:spPr>
          <a:xfrm>
            <a:off x="5897880" y="1874520"/>
            <a:ext cx="457200" cy="457200"/>
          </a:xfrm>
          <a:prstGeom prst="ellipse">
            <a:avLst/>
          </a:prstGeom>
          <a:solidFill>
            <a:srgbClr val="1E2761"/>
          </a:solidFill>
          <a:ln/>
        </p:spPr>
        <p:txBody>
          <a:bodyPr/>
          <a:p/>
        </p:txBody>
      </p:sp>
      <p:sp>
        <p:nvSpPr>
          <p:cNvPr id="19" name="Text 17"/>
          <p:cNvSpPr/>
          <p:nvPr/>
        </p:nvSpPr>
        <p:spPr>
          <a:xfrm>
            <a:off x="5897880" y="1874520"/>
            <a:ext cx="457200" cy="457200"/>
          </a:xfrm>
          <a:prstGeom prst="rect">
            <a:avLst/>
          </a:prstGeom>
          <a:noFill/>
          <a:ln/>
        </p:spPr>
        <p:txBody>
          <a:bodyPr wrap="square" lIns="0" tIns="0" rIns="0" bIns="0" rtlCol="0" anchor="ctr"/>
          <a:lstStyle/>
          <a:p>
            <a:r>
              <a:rPr sz="1600" b="1">
                <a:solidFill>
                  <a:srgbClr val="FFFFFF"/>
                </a:solidFill>
                <a:latin typeface="Cambria"/>
              </a:rPr>
              <a:t>1</a:t>
            </a:r>
          </a:p>
        </p:txBody>
      </p:sp>
      <p:sp>
        <p:nvSpPr>
          <p:cNvPr id="20" name="Text 18"/>
          <p:cNvSpPr/>
          <p:nvPr/>
        </p:nvSpPr>
        <p:spPr>
          <a:xfrm>
            <a:off x="6537960" y="1783080"/>
            <a:ext cx="4846320" cy="320040"/>
          </a:xfrm>
          <a:prstGeom prst="rect">
            <a:avLst/>
          </a:prstGeom>
          <a:noFill/>
          <a:ln/>
        </p:spPr>
        <p:txBody>
          <a:bodyPr wrap="square" rtlCol="0" anchor="ctr"/>
          <a:lstStyle/>
          <a:p>
            <a:r>
              <a:rPr sz="1450" b="1">
                <a:solidFill>
                  <a:srgbClr val="1B1F3B"/>
                </a:solidFill>
                <a:latin typeface="Calibri"/>
              </a:rPr>
              <a:t>FastAPI बॅकएंड</a:t>
            </a:r>
          </a:p>
        </p:txBody>
      </p:sp>
      <p:sp>
        <p:nvSpPr>
          <p:cNvPr id="21" name="Text 19"/>
          <p:cNvSpPr/>
          <p:nvPr/>
        </p:nvSpPr>
        <p:spPr>
          <a:xfrm>
            <a:off x="6537960" y="2148840"/>
            <a:ext cx="4846320" cy="640080"/>
          </a:xfrm>
          <a:prstGeom prst="rect">
            <a:avLst/>
          </a:prstGeom>
          <a:noFill/>
          <a:ln/>
        </p:spPr>
        <p:txBody>
          <a:bodyPr wrap="square" rtlCol="0" anchor="ctr"/>
          <a:lstStyle/>
          <a:p>
            <a:r>
              <a:rPr sz="1050">
                <a:solidFill>
                  <a:srgbClr val="6B7390"/>
                </a:solidFill>
                <a:latin typeface="Courier New"/>
              </a:rPr>
              <a:t>cd backend · venv · pip install -r requirements.txt · uvicorn main:app --reload --port 8000</a:t>
            </a:r>
          </a:p>
        </p:txBody>
      </p:sp>
      <p:sp>
        <p:nvSpPr>
          <p:cNvPr id="22" name="Shape 20"/>
          <p:cNvSpPr/>
          <p:nvPr/>
        </p:nvSpPr>
        <p:spPr>
          <a:xfrm>
            <a:off x="5669280" y="3063240"/>
            <a:ext cx="5943600" cy="1234440"/>
          </a:xfrm>
          <a:prstGeom prst="roundRect">
            <a:avLst>
              <a:gd name="adj" fmla="val 7407"/>
            </a:avLst>
          </a:prstGeom>
          <a:solidFill>
            <a:srgbClr val="F4F6FB"/>
          </a:solidFill>
          <a:ln/>
        </p:spPr>
        <p:txBody>
          <a:bodyPr/>
          <a:p/>
        </p:txBody>
      </p:sp>
      <p:sp>
        <p:nvSpPr>
          <p:cNvPr id="23" name="Shape 21"/>
          <p:cNvSpPr/>
          <p:nvPr/>
        </p:nvSpPr>
        <p:spPr>
          <a:xfrm>
            <a:off x="5897880" y="3291840"/>
            <a:ext cx="457200" cy="457200"/>
          </a:xfrm>
          <a:prstGeom prst="ellipse">
            <a:avLst/>
          </a:prstGeom>
          <a:solidFill>
            <a:srgbClr val="1E2761"/>
          </a:solidFill>
          <a:ln/>
        </p:spPr>
        <p:txBody>
          <a:bodyPr/>
          <a:p/>
        </p:txBody>
      </p:sp>
      <p:sp>
        <p:nvSpPr>
          <p:cNvPr id="24" name="Text 22"/>
          <p:cNvSpPr/>
          <p:nvPr/>
        </p:nvSpPr>
        <p:spPr>
          <a:xfrm>
            <a:off x="5897880" y="3291840"/>
            <a:ext cx="457200" cy="457200"/>
          </a:xfrm>
          <a:prstGeom prst="rect">
            <a:avLst/>
          </a:prstGeom>
          <a:noFill/>
          <a:ln/>
        </p:spPr>
        <p:txBody>
          <a:bodyPr wrap="square" lIns="0" tIns="0" rIns="0" bIns="0" rtlCol="0" anchor="ctr"/>
          <a:lstStyle/>
          <a:p>
            <a:r>
              <a:rPr sz="1600" b="1">
                <a:solidFill>
                  <a:srgbClr val="FFFFFF"/>
                </a:solidFill>
                <a:latin typeface="Cambria"/>
              </a:rPr>
              <a:t>2</a:t>
            </a:r>
          </a:p>
        </p:txBody>
      </p:sp>
      <p:sp>
        <p:nvSpPr>
          <p:cNvPr id="25" name="Text 23"/>
          <p:cNvSpPr/>
          <p:nvPr/>
        </p:nvSpPr>
        <p:spPr>
          <a:xfrm>
            <a:off x="6537960" y="3200400"/>
            <a:ext cx="4846320" cy="320040"/>
          </a:xfrm>
          <a:prstGeom prst="rect">
            <a:avLst/>
          </a:prstGeom>
          <a:noFill/>
          <a:ln/>
        </p:spPr>
        <p:txBody>
          <a:bodyPr wrap="square" rtlCol="0" anchor="ctr"/>
          <a:lstStyle/>
          <a:p>
            <a:r>
              <a:rPr sz="1450" b="1">
                <a:solidFill>
                  <a:srgbClr val="1B1F3B"/>
                </a:solidFill>
                <a:latin typeface="Calibri"/>
              </a:rPr>
              <a:t>Express गेटवे</a:t>
            </a:r>
          </a:p>
        </p:txBody>
      </p:sp>
      <p:sp>
        <p:nvSpPr>
          <p:cNvPr id="26" name="Text 24"/>
          <p:cNvSpPr/>
          <p:nvPr/>
        </p:nvSpPr>
        <p:spPr>
          <a:xfrm>
            <a:off x="6537960" y="3566160"/>
            <a:ext cx="4846320" cy="640080"/>
          </a:xfrm>
          <a:prstGeom prst="rect">
            <a:avLst/>
          </a:prstGeom>
          <a:noFill/>
          <a:ln/>
        </p:spPr>
        <p:txBody>
          <a:bodyPr wrap="square" rtlCol="0" anchor="ctr"/>
          <a:lstStyle/>
          <a:p>
            <a:r>
              <a:rPr sz="1050">
                <a:solidFill>
                  <a:srgbClr val="6B7390"/>
                </a:solidFill>
                <a:latin typeface="Courier New"/>
              </a:rPr>
              <a:t>cd express-backend · npm install · npm run dev  (पोर्ट 3000)</a:t>
            </a:r>
          </a:p>
        </p:txBody>
      </p:sp>
      <p:sp>
        <p:nvSpPr>
          <p:cNvPr id="27" name="Shape 25"/>
          <p:cNvSpPr/>
          <p:nvPr/>
        </p:nvSpPr>
        <p:spPr>
          <a:xfrm>
            <a:off x="5669280" y="4480560"/>
            <a:ext cx="5943600" cy="1234440"/>
          </a:xfrm>
          <a:prstGeom prst="roundRect">
            <a:avLst>
              <a:gd name="adj" fmla="val 7407"/>
            </a:avLst>
          </a:prstGeom>
          <a:solidFill>
            <a:srgbClr val="F4F6FB"/>
          </a:solidFill>
          <a:ln/>
        </p:spPr>
        <p:txBody>
          <a:bodyPr/>
          <a:p/>
        </p:txBody>
      </p:sp>
      <p:sp>
        <p:nvSpPr>
          <p:cNvPr id="28" name="Shape 26"/>
          <p:cNvSpPr/>
          <p:nvPr/>
        </p:nvSpPr>
        <p:spPr>
          <a:xfrm>
            <a:off x="5897880" y="4709160"/>
            <a:ext cx="457200" cy="457200"/>
          </a:xfrm>
          <a:prstGeom prst="ellipse">
            <a:avLst/>
          </a:prstGeom>
          <a:solidFill>
            <a:srgbClr val="1E2761"/>
          </a:solidFill>
          <a:ln/>
        </p:spPr>
        <p:txBody>
          <a:bodyPr/>
          <a:p/>
        </p:txBody>
      </p:sp>
      <p:sp>
        <p:nvSpPr>
          <p:cNvPr id="29" name="Text 27"/>
          <p:cNvSpPr/>
          <p:nvPr/>
        </p:nvSpPr>
        <p:spPr>
          <a:xfrm>
            <a:off x="5897880" y="4709160"/>
            <a:ext cx="457200" cy="457200"/>
          </a:xfrm>
          <a:prstGeom prst="rect">
            <a:avLst/>
          </a:prstGeom>
          <a:noFill/>
          <a:ln/>
        </p:spPr>
        <p:txBody>
          <a:bodyPr wrap="square" lIns="0" tIns="0" rIns="0" bIns="0" rtlCol="0" anchor="ctr"/>
          <a:lstStyle/>
          <a:p>
            <a:r>
              <a:rPr sz="1600" b="1">
                <a:solidFill>
                  <a:srgbClr val="FFFFFF"/>
                </a:solidFill>
                <a:latin typeface="Cambria"/>
              </a:rPr>
              <a:t>3</a:t>
            </a:r>
          </a:p>
        </p:txBody>
      </p:sp>
      <p:sp>
        <p:nvSpPr>
          <p:cNvPr id="30" name="Text 28"/>
          <p:cNvSpPr/>
          <p:nvPr/>
        </p:nvSpPr>
        <p:spPr>
          <a:xfrm>
            <a:off x="6537960" y="4617720"/>
            <a:ext cx="4846320" cy="320040"/>
          </a:xfrm>
          <a:prstGeom prst="rect">
            <a:avLst/>
          </a:prstGeom>
          <a:noFill/>
          <a:ln/>
        </p:spPr>
        <p:txBody>
          <a:bodyPr wrap="square" rtlCol="0" anchor="ctr"/>
          <a:lstStyle/>
          <a:p>
            <a:r>
              <a:rPr sz="1450" b="1">
                <a:solidFill>
                  <a:srgbClr val="1B1F3B"/>
                </a:solidFill>
                <a:latin typeface="Calibri"/>
              </a:rPr>
              <a:t>React फ्रंटएंड</a:t>
            </a:r>
          </a:p>
        </p:txBody>
      </p:sp>
      <p:sp>
        <p:nvSpPr>
          <p:cNvPr id="31" name="Text 29"/>
          <p:cNvSpPr/>
          <p:nvPr/>
        </p:nvSpPr>
        <p:spPr>
          <a:xfrm>
            <a:off x="6537960" y="4983480"/>
            <a:ext cx="4846320" cy="640080"/>
          </a:xfrm>
          <a:prstGeom prst="rect">
            <a:avLst/>
          </a:prstGeom>
          <a:noFill/>
          <a:ln/>
        </p:spPr>
        <p:txBody>
          <a:bodyPr wrap="square" rtlCol="0" anchor="ctr"/>
          <a:lstStyle/>
          <a:p>
            <a:r>
              <a:rPr sz="1050">
                <a:solidFill>
                  <a:srgbClr val="6B7390"/>
                </a:solidFill>
                <a:latin typeface="Courier New"/>
              </a:rPr>
              <a:t>cd frontend · npm install · npm run dev  →  localhost:5173</a:t>
            </a:r>
          </a:p>
        </p:txBody>
      </p:sp>
      <p:sp>
        <p:nvSpPr>
          <p:cNvPr id="32" name="Text 30"/>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33" name="Text 31"/>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सध्याची स्थिती</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ज्ञात समस्या</a:t>
            </a:r>
          </a:p>
        </p:txBody>
      </p:sp>
      <p:sp>
        <p:nvSpPr>
          <p:cNvPr id="4" name="Shape 2"/>
          <p:cNvSpPr/>
          <p:nvPr/>
        </p:nvSpPr>
        <p:spPr>
          <a:xfrm>
            <a:off x="548640" y="1783080"/>
            <a:ext cx="11064240" cy="1371600"/>
          </a:xfrm>
          <a:prstGeom prst="roundRect">
            <a:avLst>
              <a:gd name="adj" fmla="val 6667"/>
            </a:avLst>
          </a:prstGeom>
          <a:solidFill>
            <a:srgbClr val="E8F3EC"/>
          </a:solidFill>
          <a:ln/>
        </p:spPr>
        <p:txBody>
          <a:bodyPr/>
          <a:p/>
        </p:txBody>
      </p:sp>
      <p:sp>
        <p:nvSpPr>
          <p:cNvPr id="5" name="Shape 3"/>
          <p:cNvSpPr/>
          <p:nvPr/>
        </p:nvSpPr>
        <p:spPr>
          <a:xfrm>
            <a:off x="868680" y="2148840"/>
            <a:ext cx="548640" cy="548640"/>
          </a:xfrm>
          <a:prstGeom prst="ellipse">
            <a:avLst/>
          </a:prstGeom>
          <a:solidFill>
            <a:srgbClr val="2C7A4B"/>
          </a:solidFill>
          <a:ln/>
        </p:spPr>
        <p:txBody>
          <a:bodyPr/>
          <a:p/>
        </p:txBody>
      </p:sp>
      <p:sp>
        <p:nvSpPr>
          <p:cNvPr id="6" name="Text 4"/>
          <p:cNvSpPr/>
          <p:nvPr/>
        </p:nvSpPr>
        <p:spPr>
          <a:xfrm>
            <a:off x="868680" y="2148840"/>
            <a:ext cx="548640" cy="548640"/>
          </a:xfrm>
          <a:prstGeom prst="rect">
            <a:avLst/>
          </a:prstGeom>
          <a:noFill/>
          <a:ln/>
        </p:spPr>
        <p:txBody>
          <a:bodyPr wrap="square" lIns="0" tIns="0" rIns="0" bIns="0" rtlCol="0" anchor="ctr"/>
          <a:lstStyle/>
          <a:p>
            <a:r>
              <a:rPr sz="2200" b="1">
                <a:solidFill>
                  <a:srgbClr val="FFFFFF"/>
                </a:solidFill>
                <a:latin typeface="Calibri"/>
              </a:rPr>
              <a:t>✓</a:t>
            </a:r>
          </a:p>
        </p:txBody>
      </p:sp>
      <p:sp>
        <p:nvSpPr>
          <p:cNvPr id="7" name="Text 5"/>
          <p:cNvSpPr/>
          <p:nvPr/>
        </p:nvSpPr>
        <p:spPr>
          <a:xfrm>
            <a:off x="1645920" y="1965960"/>
            <a:ext cx="9601200" cy="320040"/>
          </a:xfrm>
          <a:prstGeom prst="rect">
            <a:avLst/>
          </a:prstGeom>
          <a:noFill/>
          <a:ln/>
        </p:spPr>
        <p:txBody>
          <a:bodyPr wrap="square" rtlCol="0" anchor="ctr"/>
          <a:lstStyle/>
          <a:p>
            <a:r>
              <a:rPr sz="1500" b="1">
                <a:solidFill>
                  <a:srgbClr val="2C7A4B"/>
                </a:solidFill>
                <a:latin typeface="Calibri"/>
              </a:rPr>
              <a:t>निराकरण केले</a:t>
            </a:r>
          </a:p>
        </p:txBody>
      </p:sp>
      <p:sp>
        <p:nvSpPr>
          <p:cNvPr id="8" name="Text 6"/>
          <p:cNvSpPr/>
          <p:nvPr/>
        </p:nvSpPr>
        <p:spPr>
          <a:xfrm>
            <a:off x="1645920" y="2286000"/>
            <a:ext cx="9692640" cy="777240"/>
          </a:xfrm>
          <a:prstGeom prst="rect">
            <a:avLst/>
          </a:prstGeom>
          <a:noFill/>
          <a:ln/>
        </p:spPr>
        <p:txBody>
          <a:bodyPr wrap="square" rtlCol="0" anchor="ctr"/>
          <a:lstStyle/>
          <a:p>
            <a:r>
              <a:rPr sz="1300">
                <a:solidFill>
                  <a:srgbClr val="1B1F3B"/>
                </a:solidFill>
                <a:latin typeface="Calibri"/>
              </a:rPr>
              <a:t>व्हेक्टर स्टोरेज (FAISS) आता डिस्कवर स्थानिकरीत्या (faiss_indices/) कायमस्वरूपी जतन केले जाते, ज्यामुळे मेमरीतील डेटा नष्ट होणे टळते — आणि जलद, विश्वासार्ह निर्मितीसाठी gpt-4o-mini पूर्णपणे एकात्मिक केले आहे.</a:t>
            </a:r>
          </a:p>
        </p:txBody>
      </p:sp>
      <p:sp>
        <p:nvSpPr>
          <p:cNvPr id="9" name="Shape 7"/>
          <p:cNvSpPr/>
          <p:nvPr/>
        </p:nvSpPr>
        <p:spPr>
          <a:xfrm>
            <a:off x="548640" y="3383280"/>
            <a:ext cx="11064240" cy="1371600"/>
          </a:xfrm>
          <a:prstGeom prst="roundRect">
            <a:avLst>
              <a:gd name="adj" fmla="val 6667"/>
            </a:avLst>
          </a:prstGeom>
          <a:solidFill>
            <a:srgbClr val="FCEDEA"/>
          </a:solidFill>
          <a:ln/>
        </p:spPr>
        <p:txBody>
          <a:bodyPr/>
          <a:p/>
        </p:txBody>
      </p:sp>
      <p:sp>
        <p:nvSpPr>
          <p:cNvPr id="10" name="Shape 8"/>
          <p:cNvSpPr/>
          <p:nvPr/>
        </p:nvSpPr>
        <p:spPr>
          <a:xfrm>
            <a:off x="868680" y="3749040"/>
            <a:ext cx="548640" cy="548640"/>
          </a:xfrm>
          <a:prstGeom prst="ellipse">
            <a:avLst/>
          </a:prstGeom>
          <a:solidFill>
            <a:srgbClr val="C0392B"/>
          </a:solidFill>
          <a:ln/>
        </p:spPr>
        <p:txBody>
          <a:bodyPr/>
          <a:p/>
        </p:txBody>
      </p:sp>
      <p:sp>
        <p:nvSpPr>
          <p:cNvPr id="11" name="Text 9"/>
          <p:cNvSpPr/>
          <p:nvPr/>
        </p:nvSpPr>
        <p:spPr>
          <a:xfrm>
            <a:off x="868680" y="3749040"/>
            <a:ext cx="548640" cy="548640"/>
          </a:xfrm>
          <a:prstGeom prst="rect">
            <a:avLst/>
          </a:prstGeom>
          <a:noFill/>
          <a:ln/>
        </p:spPr>
        <p:txBody>
          <a:bodyPr wrap="square" lIns="0" tIns="0" rIns="0" bIns="0" rtlCol="0" anchor="ctr"/>
          <a:lstStyle/>
          <a:p>
            <a:r>
              <a:rPr sz="2200" b="1">
                <a:solidFill>
                  <a:srgbClr val="FFFFFF"/>
                </a:solidFill>
                <a:latin typeface="Calibri"/>
              </a:rPr>
              <a:t>!</a:t>
            </a:r>
          </a:p>
        </p:txBody>
      </p:sp>
      <p:sp>
        <p:nvSpPr>
          <p:cNvPr id="12" name="Text 10"/>
          <p:cNvSpPr/>
          <p:nvPr/>
        </p:nvSpPr>
        <p:spPr>
          <a:xfrm>
            <a:off x="1645920" y="3566160"/>
            <a:ext cx="9601200" cy="320040"/>
          </a:xfrm>
          <a:prstGeom prst="rect">
            <a:avLst/>
          </a:prstGeom>
          <a:noFill/>
          <a:ln/>
        </p:spPr>
        <p:txBody>
          <a:bodyPr wrap="square" rtlCol="0" anchor="ctr"/>
          <a:lstStyle/>
          <a:p>
            <a:r>
              <a:rPr sz="1500" b="1">
                <a:solidFill>
                  <a:srgbClr val="C0392B"/>
                </a:solidFill>
                <a:latin typeface="Calibri"/>
              </a:rPr>
              <a:t>प्रलंबित समस्या</a:t>
            </a:r>
          </a:p>
        </p:txBody>
      </p:sp>
      <p:sp>
        <p:nvSpPr>
          <p:cNvPr id="13" name="Text 11"/>
          <p:cNvSpPr/>
          <p:nvPr/>
        </p:nvSpPr>
        <p:spPr>
          <a:xfrm>
            <a:off x="1645920" y="3886200"/>
            <a:ext cx="9692640" cy="777240"/>
          </a:xfrm>
          <a:prstGeom prst="rect">
            <a:avLst/>
          </a:prstGeom>
          <a:noFill/>
          <a:ln/>
        </p:spPr>
        <p:txBody>
          <a:bodyPr wrap="square" rtlCol="0" anchor="ctr"/>
          <a:lstStyle/>
          <a:p>
            <a:r>
              <a:rPr sz="1300">
                <a:solidFill>
                  <a:srgbClr val="1B1F3B"/>
                </a:solidFill>
                <a:latin typeface="Calibri"/>
              </a:rPr>
              <a:t>ज्या YouTube व्हिडिओंसाठी ट्रान्सक्रिप्ट पूर्णपणे अक्षम आहेत (स्वयं-निर्मित किंवा मॅन्युअल कॅप्शन उपलब्ध नाहीत), त्यांच्यावर सध्या प्रक्रिया करता येत नाही.</a:t>
            </a:r>
          </a:p>
        </p:txBody>
      </p:sp>
      <p:sp>
        <p:nvSpPr>
          <p:cNvPr id="14" name="Text 12"/>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15" name="Text 13"/>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r>
              <a:rPr sz="1300" b="1">
                <a:solidFill>
                  <a:srgbClr val="3E6CB5"/>
                </a:solidFill>
                <a:latin typeface="Calibri"/>
              </a:rPr>
              <a:t>पुढे काय</a:t>
            </a:r>
          </a:p>
        </p:txBody>
      </p:sp>
      <p:sp>
        <p:nvSpPr>
          <p:cNvPr id="3" name="Text 1"/>
          <p:cNvSpPr/>
          <p:nvPr/>
        </p:nvSpPr>
        <p:spPr>
          <a:xfrm>
            <a:off x="548640" y="713232"/>
            <a:ext cx="10515600" cy="685800"/>
          </a:xfrm>
          <a:prstGeom prst="rect">
            <a:avLst/>
          </a:prstGeom>
          <a:noFill/>
          <a:ln/>
        </p:spPr>
        <p:txBody>
          <a:bodyPr wrap="square" rtlCol="0" anchor="ctr"/>
          <a:lstStyle/>
          <a:p>
            <a:r>
              <a:rPr sz="3200" b="1">
                <a:solidFill>
                  <a:srgbClr val="1B1F3B"/>
                </a:solidFill>
                <a:latin typeface="Cambria"/>
              </a:rPr>
              <a:t>भविष्यातील सुधारणा</a:t>
            </a:r>
          </a:p>
        </p:txBody>
      </p:sp>
      <p:sp>
        <p:nvSpPr>
          <p:cNvPr id="4" name="Shape 2"/>
          <p:cNvSpPr/>
          <p:nvPr/>
        </p:nvSpPr>
        <p:spPr>
          <a:xfrm>
            <a:off x="548640" y="1737360"/>
            <a:ext cx="5349240" cy="2011680"/>
          </a:xfrm>
          <a:prstGeom prst="roundRect">
            <a:avLst>
              <a:gd name="adj" fmla="val 4545"/>
            </a:avLst>
          </a:prstGeom>
          <a:solidFill>
            <a:srgbClr val="1E2761"/>
          </a:solidFill>
          <a:ln/>
        </p:spPr>
        <p:txBody>
          <a:bodyPr/>
          <a:p/>
        </p:txBody>
      </p:sp>
      <p:sp>
        <p:nvSpPr>
          <p:cNvPr id="5" name="Text 3"/>
          <p:cNvSpPr/>
          <p:nvPr/>
        </p:nvSpPr>
        <p:spPr>
          <a:xfrm>
            <a:off x="868680" y="2011680"/>
            <a:ext cx="4709160" cy="411480"/>
          </a:xfrm>
          <a:prstGeom prst="rect">
            <a:avLst/>
          </a:prstGeom>
          <a:noFill/>
          <a:ln/>
        </p:spPr>
        <p:txBody>
          <a:bodyPr wrap="square" rtlCol="0" anchor="ctr"/>
          <a:lstStyle/>
          <a:p>
            <a:r>
              <a:rPr sz="1600" b="1">
                <a:solidFill>
                  <a:srgbClr val="CADCFC"/>
                </a:solidFill>
                <a:latin typeface="Calibri"/>
              </a:rPr>
              <a:t>व्हेक्टर स्टोरेज अपग्रेड</a:t>
            </a:r>
          </a:p>
        </p:txBody>
      </p:sp>
      <p:sp>
        <p:nvSpPr>
          <p:cNvPr id="6" name="Text 4"/>
          <p:cNvSpPr/>
          <p:nvPr/>
        </p:nvSpPr>
        <p:spPr>
          <a:xfrm>
            <a:off x="868680" y="2514600"/>
            <a:ext cx="4709160" cy="1097280"/>
          </a:xfrm>
          <a:prstGeom prst="rect">
            <a:avLst/>
          </a:prstGeom>
          <a:noFill/>
          <a:ln/>
        </p:spPr>
        <p:txBody>
          <a:bodyPr wrap="square" rtlCol="0" anchor="ctr"/>
          <a:lstStyle/>
          <a:p>
            <a:r>
              <a:rPr sz="1250">
                <a:solidFill>
                  <a:srgbClr val="FFFFFF"/>
                </a:solidFill>
                <a:latin typeface="Calibri"/>
              </a:rPr>
              <a:t>एंटरप्राइझ स्केलेबिलिटीसाठी स्थानिक FAISS इंडेक्सचे कायमस्वरूपी PostgreSQL + pgvector डेटाबेसमध्ये स्थलांतर करा.</a:t>
            </a:r>
          </a:p>
        </p:txBody>
      </p:sp>
      <p:sp>
        <p:nvSpPr>
          <p:cNvPr id="7" name="Shape 5"/>
          <p:cNvSpPr/>
          <p:nvPr/>
        </p:nvSpPr>
        <p:spPr>
          <a:xfrm>
            <a:off x="6263640" y="1737360"/>
            <a:ext cx="5349240" cy="2011680"/>
          </a:xfrm>
          <a:prstGeom prst="roundRect">
            <a:avLst>
              <a:gd name="adj" fmla="val 4545"/>
            </a:avLst>
          </a:prstGeom>
          <a:solidFill>
            <a:srgbClr val="1E2761"/>
          </a:solidFill>
          <a:ln/>
        </p:spPr>
        <p:txBody>
          <a:bodyPr/>
          <a:p/>
        </p:txBody>
      </p:sp>
      <p:sp>
        <p:nvSpPr>
          <p:cNvPr id="8" name="Text 6"/>
          <p:cNvSpPr/>
          <p:nvPr/>
        </p:nvSpPr>
        <p:spPr>
          <a:xfrm>
            <a:off x="6583680" y="2011680"/>
            <a:ext cx="4709160" cy="411480"/>
          </a:xfrm>
          <a:prstGeom prst="rect">
            <a:avLst/>
          </a:prstGeom>
          <a:noFill/>
          <a:ln/>
        </p:spPr>
        <p:txBody>
          <a:bodyPr wrap="square" rtlCol="0" anchor="ctr"/>
          <a:lstStyle/>
          <a:p>
            <a:r>
              <a:rPr sz="1600" b="1">
                <a:solidFill>
                  <a:srgbClr val="CADCFC"/>
                </a:solidFill>
                <a:latin typeface="Calibri"/>
              </a:rPr>
              <a:t>विश्लेषण डॅशबोर्ड</a:t>
            </a:r>
          </a:p>
        </p:txBody>
      </p:sp>
      <p:sp>
        <p:nvSpPr>
          <p:cNvPr id="9" name="Text 7"/>
          <p:cNvSpPr/>
          <p:nvPr/>
        </p:nvSpPr>
        <p:spPr>
          <a:xfrm>
            <a:off x="6583680" y="2514600"/>
            <a:ext cx="4709160" cy="1097280"/>
          </a:xfrm>
          <a:prstGeom prst="rect">
            <a:avLst/>
          </a:prstGeom>
          <a:noFill/>
          <a:ln/>
        </p:spPr>
        <p:txBody>
          <a:bodyPr wrap="square" rtlCol="0" anchor="ctr"/>
          <a:lstStyle/>
          <a:p>
            <a:r>
              <a:rPr sz="1250">
                <a:solidFill>
                  <a:srgbClr val="FFFFFF"/>
                </a:solidFill>
                <a:latin typeface="Calibri"/>
              </a:rPr>
              <a:t>क्विझमधील कामगिरी आणि कालांतराने आकलनाच्या प्रगतीचे समग्र दृश्य देणारे एक समर्पित पृष्ठ.</a:t>
            </a:r>
          </a:p>
        </p:txBody>
      </p:sp>
      <p:sp>
        <p:nvSpPr>
          <p:cNvPr id="10" name="Shape 8"/>
          <p:cNvSpPr/>
          <p:nvPr/>
        </p:nvSpPr>
        <p:spPr>
          <a:xfrm>
            <a:off x="548640" y="4069080"/>
            <a:ext cx="5349240" cy="2011680"/>
          </a:xfrm>
          <a:prstGeom prst="roundRect">
            <a:avLst>
              <a:gd name="adj" fmla="val 4545"/>
            </a:avLst>
          </a:prstGeom>
          <a:solidFill>
            <a:srgbClr val="1E2761"/>
          </a:solidFill>
          <a:ln/>
        </p:spPr>
        <p:txBody>
          <a:bodyPr/>
          <a:p/>
        </p:txBody>
      </p:sp>
      <p:sp>
        <p:nvSpPr>
          <p:cNvPr id="11" name="Text 9"/>
          <p:cNvSpPr/>
          <p:nvPr/>
        </p:nvSpPr>
        <p:spPr>
          <a:xfrm>
            <a:off x="868680" y="4343400"/>
            <a:ext cx="4709160" cy="411480"/>
          </a:xfrm>
          <a:prstGeom prst="rect">
            <a:avLst/>
          </a:prstGeom>
          <a:noFill/>
          <a:ln/>
        </p:spPr>
        <p:txBody>
          <a:bodyPr wrap="square" rtlCol="0" anchor="ctr"/>
          <a:lstStyle/>
          <a:p>
            <a:r>
              <a:rPr sz="1600" b="1">
                <a:solidFill>
                  <a:srgbClr val="CADCFC"/>
                </a:solidFill>
                <a:latin typeface="Calibri"/>
              </a:rPr>
              <a:t>चॅटबॉट फीडबॅक लूप</a:t>
            </a:r>
          </a:p>
        </p:txBody>
      </p:sp>
      <p:sp>
        <p:nvSpPr>
          <p:cNvPr id="12" name="Text 10"/>
          <p:cNvSpPr/>
          <p:nvPr/>
        </p:nvSpPr>
        <p:spPr>
          <a:xfrm>
            <a:off x="868680" y="4846320"/>
            <a:ext cx="4709160" cy="1097280"/>
          </a:xfrm>
          <a:prstGeom prst="rect">
            <a:avLst/>
          </a:prstGeom>
          <a:noFill/>
          <a:ln/>
        </p:spPr>
        <p:txBody>
          <a:bodyPr wrap="square" rtlCol="0" anchor="ctr"/>
          <a:lstStyle/>
          <a:p>
            <a:r>
              <a:rPr sz="1250">
                <a:solidFill>
                  <a:srgbClr val="FFFFFF"/>
                </a:solidFill>
                <a:latin typeface="Calibri"/>
              </a:rPr>
              <a:t>प्रॉम्प्ट्स अधिक अचूक करण्यासाठी आणि उत्तरांची गुणवत्ता सुधारण्यासाठी RAG चॅट प्रतिसादांवर थम्ब्स अप/डाउन.</a:t>
            </a:r>
          </a:p>
        </p:txBody>
      </p:sp>
      <p:sp>
        <p:nvSpPr>
          <p:cNvPr id="13" name="Shape 11"/>
          <p:cNvSpPr/>
          <p:nvPr/>
        </p:nvSpPr>
        <p:spPr>
          <a:xfrm>
            <a:off x="6263640" y="4069080"/>
            <a:ext cx="5349240" cy="2011680"/>
          </a:xfrm>
          <a:prstGeom prst="roundRect">
            <a:avLst>
              <a:gd name="adj" fmla="val 4545"/>
            </a:avLst>
          </a:prstGeom>
          <a:solidFill>
            <a:srgbClr val="1E2761"/>
          </a:solidFill>
          <a:ln/>
        </p:spPr>
        <p:txBody>
          <a:bodyPr/>
          <a:p/>
        </p:txBody>
      </p:sp>
      <p:sp>
        <p:nvSpPr>
          <p:cNvPr id="14" name="Text 12"/>
          <p:cNvSpPr/>
          <p:nvPr/>
        </p:nvSpPr>
        <p:spPr>
          <a:xfrm>
            <a:off x="6583680" y="4343400"/>
            <a:ext cx="4709160" cy="411480"/>
          </a:xfrm>
          <a:prstGeom prst="rect">
            <a:avLst/>
          </a:prstGeom>
          <a:noFill/>
          <a:ln/>
        </p:spPr>
        <p:txBody>
          <a:bodyPr wrap="square" rtlCol="0" anchor="ctr"/>
          <a:lstStyle/>
          <a:p>
            <a:r>
              <a:rPr sz="1600" b="1">
                <a:solidFill>
                  <a:srgbClr val="CADCFC"/>
                </a:solidFill>
                <a:latin typeface="Calibri"/>
              </a:rPr>
              <a:t>सदस्यत्वे आणि बक्षिसे</a:t>
            </a:r>
          </a:p>
        </p:txBody>
      </p:sp>
      <p:sp>
        <p:nvSpPr>
          <p:cNvPr id="15" name="Text 13"/>
          <p:cNvSpPr/>
          <p:nvPr/>
        </p:nvSpPr>
        <p:spPr>
          <a:xfrm>
            <a:off x="6583680" y="4846320"/>
            <a:ext cx="4709160" cy="1097280"/>
          </a:xfrm>
          <a:prstGeom prst="rect">
            <a:avLst/>
          </a:prstGeom>
          <a:noFill/>
          <a:ln/>
        </p:spPr>
        <p:txBody>
          <a:bodyPr wrap="square" rtlCol="0" anchor="ctr"/>
          <a:lstStyle/>
          <a:p>
            <a:r>
              <a:rPr sz="1250">
                <a:solidFill>
                  <a:srgbClr val="FFFFFF"/>
                </a:solidFill>
                <a:latin typeface="Calibri"/>
              </a:rPr>
              <a:t>“Graspify Pro” सदस्यत्व स्तर आणि “Learning Rewards” गेमिफिकेशन प्रणाली.</a:t>
            </a:r>
          </a:p>
        </p:txBody>
      </p:sp>
      <p:sp>
        <p:nvSpPr>
          <p:cNvPr id="16" name="Text 14"/>
          <p:cNvSpPr/>
          <p:nvPr/>
        </p:nvSpPr>
        <p:spPr>
          <a:xfrm>
            <a:off x="457200" y="6537960"/>
            <a:ext cx="2743200" cy="274320"/>
          </a:xfrm>
          <a:prstGeom prst="rect">
            <a:avLst/>
          </a:prstGeom>
          <a:noFill/>
          <a:ln/>
        </p:spPr>
        <p:txBody>
          <a:bodyPr wrap="square" rtlCol="0" anchor="ctr"/>
          <a:lstStyle/>
          <a:p>
            <a:r>
              <a:rPr sz="1000">
                <a:solidFill>
                  <a:srgbClr val="6B7390"/>
                </a:solidFill>
                <a:latin typeface="Calibri"/>
              </a:rPr>
              <a:t>Graspify</a:t>
            </a:r>
          </a:p>
        </p:txBody>
      </p:sp>
      <p:sp>
        <p:nvSpPr>
          <p:cNvPr id="17" name="Text 15"/>
          <p:cNvSpPr/>
          <p:nvPr/>
        </p:nvSpPr>
        <p:spPr>
          <a:xfrm>
            <a:off x="11430000" y="6537960"/>
            <a:ext cx="457200" cy="274320"/>
          </a:xfrm>
          <a:prstGeom prst="rect">
            <a:avLst/>
          </a:prstGeom>
          <a:noFill/>
          <a:ln/>
        </p:spPr>
        <p:txBody>
          <a:bodyPr wrap="square" rtlCol="0" anchor="ctr"/>
          <a:lstStyle/>
          <a:p>
            <a:r>
              <a:rPr sz="1000">
                <a:solidFill>
                  <a:srgbClr val="6B7390"/>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141A47"/>
          </a:solidFill>
          <a:ln/>
        </p:spPr>
        <p:txBody>
          <a:bodyPr/>
          <a:p/>
        </p:txBody>
      </p:sp>
      <p:sp>
        <p:nvSpPr>
          <p:cNvPr id="3" name="Shape 1"/>
          <p:cNvSpPr/>
          <p:nvPr/>
        </p:nvSpPr>
        <p:spPr>
          <a:xfrm>
            <a:off x="9966960" y="-1463040"/>
            <a:ext cx="3108960" cy="3108960"/>
          </a:xfrm>
          <a:prstGeom prst="ellipse">
            <a:avLst/>
          </a:prstGeom>
          <a:solidFill>
            <a:srgbClr val="3E6CB5">
              <a:alpha val="30000"/>
            </a:srgbClr>
          </a:solidFill>
          <a:ln/>
        </p:spPr>
        <p:txBody>
          <a:bodyPr/>
          <a:p/>
        </p:txBody>
      </p:sp>
      <p:sp>
        <p:nvSpPr>
          <p:cNvPr id="4" name="Text 2"/>
          <p:cNvSpPr/>
          <p:nvPr/>
        </p:nvSpPr>
        <p:spPr>
          <a:xfrm>
            <a:off x="731520" y="2468880"/>
            <a:ext cx="10698480" cy="1005840"/>
          </a:xfrm>
          <a:prstGeom prst="rect">
            <a:avLst/>
          </a:prstGeom>
          <a:noFill/>
          <a:ln/>
        </p:spPr>
        <p:txBody>
          <a:bodyPr wrap="square" rtlCol="0" anchor="ctr"/>
          <a:lstStyle/>
          <a:p>
            <a:r>
              <a:rPr sz="4800" b="1">
                <a:solidFill>
                  <a:srgbClr val="FFFFFF"/>
                </a:solidFill>
                <a:latin typeface="Cambria"/>
              </a:rPr>
              <a:t>धन्यवाद</a:t>
            </a:r>
          </a:p>
        </p:txBody>
      </p:sp>
      <p:sp>
        <p:nvSpPr>
          <p:cNvPr id="5" name="Text 3"/>
          <p:cNvSpPr/>
          <p:nvPr/>
        </p:nvSpPr>
        <p:spPr>
          <a:xfrm>
            <a:off x="731520" y="3429000"/>
            <a:ext cx="10698480" cy="457200"/>
          </a:xfrm>
          <a:prstGeom prst="rect">
            <a:avLst/>
          </a:prstGeom>
          <a:noFill/>
          <a:ln/>
        </p:spPr>
        <p:txBody>
          <a:bodyPr wrap="square" rtlCol="0" anchor="ctr"/>
          <a:lstStyle/>
          <a:p>
            <a:r>
              <a:rPr sz="1600" i="1">
                <a:solidFill>
                  <a:srgbClr val="CADCFC"/>
                </a:solidFill>
                <a:latin typeface="Calibri"/>
              </a:rPr>
              <a:t>Graspify — रेकॉर्डिंग्जचे रूपांतर आकलनात.</a:t>
            </a:r>
          </a:p>
        </p:txBody>
      </p:sp>
      <p:sp>
        <p:nvSpPr>
          <p:cNvPr id="6" name="Shape 4"/>
          <p:cNvSpPr/>
          <p:nvPr/>
        </p:nvSpPr>
        <p:spPr>
          <a:xfrm>
            <a:off x="1234440" y="4663440"/>
            <a:ext cx="457200" cy="457200"/>
          </a:xfrm>
          <a:prstGeom prst="ellipse">
            <a:avLst/>
          </a:prstGeom>
          <a:solidFill>
            <a:srgbClr val="3E6CB5"/>
          </a:solidFill>
          <a:ln/>
        </p:spPr>
        <p:txBody>
          <a:bodyPr/>
          <a:p/>
        </p:txBody>
      </p:sp>
      <p:sp>
        <p:nvSpPr>
          <p:cNvPr id="7" name="Text 5"/>
          <p:cNvSpPr/>
          <p:nvPr/>
        </p:nvSpPr>
        <p:spPr>
          <a:xfrm>
            <a:off x="1234440" y="4663440"/>
            <a:ext cx="457200" cy="457200"/>
          </a:xfrm>
          <a:prstGeom prst="rect">
            <a:avLst/>
          </a:prstGeom>
          <a:noFill/>
          <a:ln/>
        </p:spPr>
        <p:txBody>
          <a:bodyPr wrap="square" lIns="0" tIns="0" rIns="0" bIns="0" rtlCol="0" anchor="ctr"/>
          <a:lstStyle/>
          <a:p>
            <a:r>
              <a:rPr sz="1400" b="1">
                <a:solidFill>
                  <a:srgbClr val="FFFFFF"/>
                </a:solidFill>
                <a:latin typeface="Calibri"/>
              </a:rPr>
              <a:t>RM</a:t>
            </a:r>
          </a:p>
        </p:txBody>
      </p:sp>
      <p:sp>
        <p:nvSpPr>
          <p:cNvPr id="8" name="Text 6"/>
          <p:cNvSpPr/>
          <p:nvPr/>
        </p:nvSpPr>
        <p:spPr>
          <a:xfrm>
            <a:off x="731520" y="5193792"/>
            <a:ext cx="1463040" cy="320040"/>
          </a:xfrm>
          <a:prstGeom prst="rect">
            <a:avLst/>
          </a:prstGeom>
          <a:noFill/>
          <a:ln/>
        </p:spPr>
        <p:txBody>
          <a:bodyPr wrap="square" rtlCol="0" anchor="ctr"/>
          <a:lstStyle/>
          <a:p>
            <a:r>
              <a:rPr sz="1100">
                <a:solidFill>
                  <a:srgbClr val="CADCFC"/>
                </a:solidFill>
                <a:latin typeface="Calibri"/>
              </a:rPr>
              <a:t>रोहन मेहता</a:t>
            </a:r>
          </a:p>
        </p:txBody>
      </p:sp>
      <p:sp>
        <p:nvSpPr>
          <p:cNvPr id="9" name="Shape 7"/>
          <p:cNvSpPr/>
          <p:nvPr/>
        </p:nvSpPr>
        <p:spPr>
          <a:xfrm>
            <a:off x="3840480" y="4663440"/>
            <a:ext cx="457200" cy="457200"/>
          </a:xfrm>
          <a:prstGeom prst="ellipse">
            <a:avLst/>
          </a:prstGeom>
          <a:solidFill>
            <a:srgbClr val="3E6CB5"/>
          </a:solidFill>
          <a:ln/>
        </p:spPr>
        <p:txBody>
          <a:bodyPr/>
          <a:p/>
        </p:txBody>
      </p:sp>
      <p:sp>
        <p:nvSpPr>
          <p:cNvPr id="10" name="Text 8"/>
          <p:cNvSpPr/>
          <p:nvPr/>
        </p:nvSpPr>
        <p:spPr>
          <a:xfrm>
            <a:off x="3840480" y="4663440"/>
            <a:ext cx="457200" cy="457200"/>
          </a:xfrm>
          <a:prstGeom prst="rect">
            <a:avLst/>
          </a:prstGeom>
          <a:noFill/>
          <a:ln/>
        </p:spPr>
        <p:txBody>
          <a:bodyPr wrap="square" lIns="0" tIns="0" rIns="0" bIns="0" rtlCol="0" anchor="ctr"/>
          <a:lstStyle/>
          <a:p>
            <a:r>
              <a:rPr sz="1400" b="1">
                <a:solidFill>
                  <a:srgbClr val="FFFFFF"/>
                </a:solidFill>
                <a:latin typeface="Calibri"/>
              </a:rPr>
              <a:t>SK</a:t>
            </a:r>
          </a:p>
        </p:txBody>
      </p:sp>
      <p:sp>
        <p:nvSpPr>
          <p:cNvPr id="11" name="Text 9"/>
          <p:cNvSpPr/>
          <p:nvPr/>
        </p:nvSpPr>
        <p:spPr>
          <a:xfrm>
            <a:off x="3337560" y="5193792"/>
            <a:ext cx="1463040" cy="320040"/>
          </a:xfrm>
          <a:prstGeom prst="rect">
            <a:avLst/>
          </a:prstGeom>
          <a:noFill/>
          <a:ln/>
        </p:spPr>
        <p:txBody>
          <a:bodyPr wrap="square" rtlCol="0" anchor="ctr"/>
          <a:lstStyle/>
          <a:p>
            <a:r>
              <a:rPr sz="1100">
                <a:solidFill>
                  <a:srgbClr val="CADCFC"/>
                </a:solidFill>
                <a:latin typeface="Calibri"/>
              </a:rPr>
              <a:t>स्नेहा कुलकर्णी</a:t>
            </a:r>
          </a:p>
        </p:txBody>
      </p:sp>
      <p:sp>
        <p:nvSpPr>
          <p:cNvPr id="12" name="Shape 10"/>
          <p:cNvSpPr/>
          <p:nvPr/>
        </p:nvSpPr>
        <p:spPr>
          <a:xfrm>
            <a:off x="6446520" y="4663440"/>
            <a:ext cx="457200" cy="457200"/>
          </a:xfrm>
          <a:prstGeom prst="ellipse">
            <a:avLst/>
          </a:prstGeom>
          <a:solidFill>
            <a:srgbClr val="3E6CB5"/>
          </a:solidFill>
          <a:ln/>
        </p:spPr>
        <p:txBody>
          <a:bodyPr/>
          <a:p/>
        </p:txBody>
      </p:sp>
      <p:sp>
        <p:nvSpPr>
          <p:cNvPr id="13" name="Text 11"/>
          <p:cNvSpPr/>
          <p:nvPr/>
        </p:nvSpPr>
        <p:spPr>
          <a:xfrm>
            <a:off x="6446520" y="4663440"/>
            <a:ext cx="457200" cy="457200"/>
          </a:xfrm>
          <a:prstGeom prst="rect">
            <a:avLst/>
          </a:prstGeom>
          <a:noFill/>
          <a:ln/>
        </p:spPr>
        <p:txBody>
          <a:bodyPr wrap="square" lIns="0" tIns="0" rIns="0" bIns="0" rtlCol="0" anchor="ctr"/>
          <a:lstStyle/>
          <a:p>
            <a:r>
              <a:rPr sz="1400" b="1">
                <a:solidFill>
                  <a:srgbClr val="FFFFFF"/>
                </a:solidFill>
                <a:latin typeface="Calibri"/>
              </a:rPr>
              <a:t>AV</a:t>
            </a:r>
          </a:p>
        </p:txBody>
      </p:sp>
      <p:sp>
        <p:nvSpPr>
          <p:cNvPr id="14" name="Text 12"/>
          <p:cNvSpPr/>
          <p:nvPr/>
        </p:nvSpPr>
        <p:spPr>
          <a:xfrm>
            <a:off x="5943600" y="5193792"/>
            <a:ext cx="1463040" cy="320040"/>
          </a:xfrm>
          <a:prstGeom prst="rect">
            <a:avLst/>
          </a:prstGeom>
          <a:noFill/>
          <a:ln/>
        </p:spPr>
        <p:txBody>
          <a:bodyPr wrap="square" rtlCol="0" anchor="ctr"/>
          <a:lstStyle/>
          <a:p>
            <a:r>
              <a:rPr sz="1100">
                <a:solidFill>
                  <a:srgbClr val="CADCFC"/>
                </a:solidFill>
                <a:latin typeface="Calibri"/>
              </a:rPr>
              <a:t>आदित्य वर्मा</a:t>
            </a:r>
          </a:p>
        </p:txBody>
      </p:sp>
      <p:sp>
        <p:nvSpPr>
          <p:cNvPr id="15" name="Shape 13"/>
          <p:cNvSpPr/>
          <p:nvPr/>
        </p:nvSpPr>
        <p:spPr>
          <a:xfrm>
            <a:off x="9052560" y="4663440"/>
            <a:ext cx="457200" cy="457200"/>
          </a:xfrm>
          <a:prstGeom prst="ellipse">
            <a:avLst/>
          </a:prstGeom>
          <a:solidFill>
            <a:srgbClr val="3E6CB5"/>
          </a:solidFill>
          <a:ln/>
        </p:spPr>
        <p:txBody>
          <a:bodyPr/>
          <a:p/>
        </p:txBody>
      </p:sp>
      <p:sp>
        <p:nvSpPr>
          <p:cNvPr id="16" name="Text 14"/>
          <p:cNvSpPr/>
          <p:nvPr/>
        </p:nvSpPr>
        <p:spPr>
          <a:xfrm>
            <a:off x="9052560" y="4663440"/>
            <a:ext cx="457200" cy="457200"/>
          </a:xfrm>
          <a:prstGeom prst="rect">
            <a:avLst/>
          </a:prstGeom>
          <a:noFill/>
          <a:ln/>
        </p:spPr>
        <p:txBody>
          <a:bodyPr wrap="square" lIns="0" tIns="0" rIns="0" bIns="0" rtlCol="0" anchor="ctr"/>
          <a:lstStyle/>
          <a:p>
            <a:r>
              <a:rPr sz="1400" b="1">
                <a:solidFill>
                  <a:srgbClr val="FFFFFF"/>
                </a:solidFill>
                <a:latin typeface="Calibri"/>
              </a:rPr>
              <a:t>PN</a:t>
            </a:r>
          </a:p>
        </p:txBody>
      </p:sp>
      <p:sp>
        <p:nvSpPr>
          <p:cNvPr id="17" name="Text 15"/>
          <p:cNvSpPr/>
          <p:nvPr/>
        </p:nvSpPr>
        <p:spPr>
          <a:xfrm>
            <a:off x="8549640" y="5193792"/>
            <a:ext cx="1463040" cy="320040"/>
          </a:xfrm>
          <a:prstGeom prst="rect">
            <a:avLst/>
          </a:prstGeom>
          <a:noFill/>
          <a:ln/>
        </p:spPr>
        <p:txBody>
          <a:bodyPr wrap="square" rtlCol="0" anchor="ctr"/>
          <a:lstStyle/>
          <a:p>
            <a:r>
              <a:rPr sz="1100">
                <a:solidFill>
                  <a:srgbClr val="CADCFC"/>
                </a:solidFill>
                <a:latin typeface="Calibri"/>
              </a:rPr>
              <a:t>प्रिया नायर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2026-08-19T01:09:54Z</dcterms:created>
  <dcterms:modified xsi:type="dcterms:W3CDTF">2026-08-19T01:09:54Z</dcterms:modified>
</cp:coreProperties>
</file>